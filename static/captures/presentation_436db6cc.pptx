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jpg"/><Relationship Id="rId5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3.png"/><Relationship Id="rId4" Type="http://schemas.openxmlformats.org/officeDocument/2006/relationships/image" Target="../media/image14.jpg"/><Relationship Id="rId5" Type="http://schemas.openxmlformats.org/officeDocument/2006/relationships/image" Target="../media/image15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8ebjo12i.jpg"/>
          <p:cNvPicPr>
            <a:picLocks noChangeAspect="1"/>
          </p:cNvPicPr>
          <p:nvPr/>
        </p:nvPicPr>
        <p:blipFill>
          <a:blip r:embed="rId2"/>
          <a:srcRect t="2597" b="259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tmp4fcw6btq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26709" y="2233209"/>
            <a:ext cx="8717062" cy="12196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3950" b="1" i="0">
                <a:solidFill>
                  <a:srgbClr val="1A1A1A"/>
                </a:solidFill>
                <a:latin typeface="Arial"/>
              </a:defRPr>
            </a:pPr>
            <a:r>
              <a:t>BÁO CÁO CÔNG VIỆC HẰNG TUẦN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4518" y="3591824"/>
            <a:ext cx="9351030" cy="119987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350" b="0" i="0">
                <a:solidFill>
                  <a:srgbClr val="333333"/>
                </a:solidFill>
                <a:latin typeface="Arial"/>
              </a:defRPr>
            </a:pPr>
            <a:r>
              <a:rPr sz="1350" b="0" i="0">
                <a:solidFill>
                  <a:srgbClr val="008080"/>
                </a:solidFill>
                <a:latin typeface="Arial"/>
              </a:rPr>
              <a:t>NHẬT KÝ THỰC TẬP TUẦN 6</a:t>
            </a:r>
            <a:r>
              <a:rPr sz="1350" b="0" i="0">
                <a:solidFill>
                  <a:srgbClr val="333333"/>
                </a:solidFill>
                <a:latin typeface="Arial"/>
              </a:rPr>
              <a:t>&lt;br&gt;Kiểm thử quy trình nghiệp vụ và hoàn thiện tài liệu trình bày KPI Copilot&lt;br&gt;&lt;br&gt;Họ và tên: ........................................................&lt;br&gt;Mã sinh viên: ........................................................&lt;br&gt;Lớp: ........................................................&lt;br&gt;Đơn vị thực tập: ........................................................&lt;br&gt;Người hướng dẫn: ........................................................&lt;br&gt;Thời gian: 03/08/2026 - 09/08/2026&lt;br&gt;Hạn nộp: 11/08/2026</a:t>
            </a:r>
          </a:p>
        </p:txBody>
      </p:sp>
    </p:spTree>
  </p:cSld>
  <p:clrMapOvr>
    <a:masterClrMapping/>
  </p:clrMapOvr>
  <p:transition spd="med" advClick="1">
    <p:pull dir="l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b279iw5o.png"/>
          <p:cNvPicPr>
            <a:picLocks noChangeAspect="1"/>
          </p:cNvPicPr>
          <p:nvPr/>
        </p:nvPicPr>
        <p:blipFill>
          <a:blip r:embed="rId2"/>
          <a:srcRect l="7318" r="7318"/>
          <a:stretch>
            <a:fillRect/>
          </a:stretch>
        </p:blipFill>
        <p:spPr>
          <a:xfrm>
            <a:off x="6553036" y="228600"/>
            <a:ext cx="5333867" cy="624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224" y="515551"/>
            <a:ext cx="5467975" cy="171636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rgbClr val="1A1A1A"/>
                </a:solidFill>
                <a:latin typeface="Arial"/>
              </a:defRPr>
            </a:pPr>
            <a:r>
              <a:t>1. MỤC TIÊU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5600" b="1" i="0">
                <a:solidFill>
                  <a:srgbClr val="1A1A1A"/>
                </a:solidFill>
                <a:latin typeface="Arial"/>
              </a:defRPr>
            </a:pPr>
            <a:r>
              <a:t>TUẦN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224" y="2236714"/>
            <a:ext cx="5467975" cy="10344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rPr sz="1950" b="0" i="0">
                <a:solidFill>
                  <a:srgbClr val="008080"/>
                </a:solidFill>
                <a:latin typeface="Arial"/>
              </a:rPr>
              <a:t>Mục tiêu chính</a:t>
            </a:r>
            <a:r>
              <a:rPr sz="1950" b="0" i="0">
                <a:solidFill>
                  <a:srgbClr val="333333"/>
                </a:solidFill>
                <a:latin typeface="Arial"/>
              </a:rPr>
              <a:t> của tuần làm việc này tập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rPr sz="1950" b="0" i="0">
                <a:solidFill>
                  <a:srgbClr val="333333"/>
                </a:solidFill>
                <a:latin typeface="Arial"/>
              </a:rPr>
              <a:t>trung vào việc rà soát hệ thống và chuẩn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rPr sz="1950" b="0" i="0">
                <a:solidFill>
                  <a:srgbClr val="333333"/>
                </a:solidFill>
                <a:latin typeface="Arial"/>
              </a:rPr>
              <a:t>bị tài liệu báo cáo: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24" y="3250149"/>
            <a:ext cx="5467975" cy="24135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rPr sz="1950" b="0" i="0">
                <a:solidFill>
                  <a:srgbClr val="333333"/>
                </a:solidFill>
                <a:latin typeface="Arial"/>
              </a:rPr>
              <a:t>• Kiểm thử toàn bộ quy trình nghiệp vụ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rPr sz="1950" b="0" i="0">
                <a:solidFill>
                  <a:srgbClr val="333333"/>
                </a:solidFill>
                <a:latin typeface="Arial"/>
              </a:rPr>
              <a:t>của </a:t>
            </a:r>
            <a:r>
              <a:rPr sz="1950" b="0" i="0">
                <a:solidFill>
                  <a:srgbClr val="008080"/>
                </a:solidFill>
                <a:latin typeface="Arial"/>
              </a:rPr>
              <a:t>AI KPI Copilot</a:t>
            </a:r>
            <a:r>
              <a:rPr sz="1950" b="0" i="0">
                <a:solidFill>
                  <a:srgbClr val="333333"/>
                </a:solidFill>
                <a:latin typeface="Arial"/>
              </a:rPr>
              <a:t> từ giao nhiệm vụ đến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rPr sz="1950" b="0" i="0">
                <a:solidFill>
                  <a:srgbClr val="333333"/>
                </a:solidFill>
                <a:latin typeface="Arial"/>
              </a:rPr>
              <a:t>tổng hợp báo cáo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rPr sz="1950" b="0" i="0">
                <a:solidFill>
                  <a:srgbClr val="333333"/>
                </a:solidFill>
                <a:latin typeface="Arial"/>
              </a:rPr>
              <a:t>• Đánh giá tính hợp lý của kết quả AI và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rPr sz="1950" b="0" i="0">
                <a:solidFill>
                  <a:srgbClr val="333333"/>
                </a:solidFill>
                <a:latin typeface="Arial"/>
              </a:rPr>
              <a:t>hoàn thiện nội dung trình bày sản phẩm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rPr sz="1950" b="0" i="0">
                <a:solidFill>
                  <a:srgbClr val="333333"/>
                </a:solidFill>
                <a:latin typeface="Arial"/>
              </a:rPr>
              <a:t>• Chuẩn bị minh chứng phục vụ báo cáo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rPr sz="1950" b="0" i="0">
                <a:solidFill>
                  <a:srgbClr val="333333"/>
                </a:solidFill>
                <a:latin typeface="Arial"/>
              </a:rPr>
              <a:t>tiến độ tuần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24" y="5654863"/>
            <a:ext cx="5467975" cy="7061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t>Đảm bảo tính chính xác của dữ liệu và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950" b="0" i="0">
                <a:solidFill>
                  <a:srgbClr val="333333"/>
                </a:solidFill>
                <a:latin typeface="Arial"/>
              </a:defRPr>
            </a:pPr>
            <a:r>
              <a:t>chất lượng tài liệu trình bày.</a:t>
            </a:r>
          </a:p>
        </p:txBody>
      </p:sp>
    </p:spTree>
  </p:cSld>
  <p:clrMapOvr>
    <a:masterClrMapping/>
  </p:clrMapOvr>
  <p:transition spd="med" advClick="1">
    <p:pull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377" y="-800100"/>
            <a:ext cx="2640264" cy="426720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36159" y="649254"/>
            <a:ext cx="2196700" cy="16245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FFFFFF"/>
                </a:solidFill>
                <a:latin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</a:rPr>
              <a:t>Luồng nghiệp vụ:</a:t>
            </a:r>
            <a:r>
              <a:rPr sz="1500" b="0" i="0">
                <a:solidFill>
                  <a:srgbClr val="FFFFFF"/>
                </a:solidFill>
                <a:latin typeface="Arial"/>
              </a:rPr>
              <a:t> Rà soát quy trình từ giao việc, thực hiện, tải minh chứng, AI phân tích đến tổng hợp báo cáo.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91798" y="-708660"/>
            <a:ext cx="2640264" cy="4594860"/>
          </a:xfrm>
          <a:prstGeom prst="roundRect">
            <a:avLst/>
          </a:prstGeom>
          <a:solidFill>
            <a:srgbClr val="20B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13580" y="861026"/>
            <a:ext cx="2196700" cy="173117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50" b="0" i="0">
                <a:solidFill>
                  <a:srgbClr val="FFFFFF"/>
                </a:solidFill>
                <a:latin typeface="Arial"/>
              </a:defRPr>
            </a:pPr>
            <a:r>
              <a:rPr sz="1550" b="1" i="0">
                <a:solidFill>
                  <a:srgbClr val="FFFFFF"/>
                </a:solidFill>
                <a:latin typeface="Arial"/>
              </a:rPr>
              <a:t>Phân tích minh chứng:</a:t>
            </a:r>
            <a:r>
              <a:rPr sz="1550" b="0" i="0">
                <a:solidFill>
                  <a:srgbClr val="FFFFFF"/>
                </a:solidFill>
                <a:latin typeface="Arial"/>
              </a:rPr>
              <a:t> Kiểm tra hệ thống đối chiếu tài liệu với yêu cầu, trả về mức độ phù hợp và giải thích kết quả.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69218" y="-617220"/>
            <a:ext cx="2640264" cy="4960620"/>
          </a:xfrm>
          <a:prstGeom prst="round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91000" y="1119655"/>
            <a:ext cx="2196700" cy="178450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700" b="0" i="0">
                <a:solidFill>
                  <a:srgbClr val="FFFFFF"/>
                </a:solidFill>
                <a:latin typeface="Arial"/>
              </a:defRPr>
            </a:pPr>
            <a:r>
              <a:rPr sz="1700" b="1" i="0">
                <a:solidFill>
                  <a:srgbClr val="FFFFFF"/>
                </a:solidFill>
                <a:latin typeface="Arial"/>
              </a:rPr>
              <a:t>Minh bạch KPI:</a:t>
            </a:r>
            <a:r>
              <a:rPr sz="1700" b="0" i="0">
                <a:solidFill>
                  <a:srgbClr val="FFFFFF"/>
                </a:solidFill>
                <a:latin typeface="Arial"/>
              </a:rPr>
              <a:t> Làm rõ vai trò trọng số, đánh giá của lãnh đạo và kết quả phân tích AI trong điểm số KPI.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46639" y="-525780"/>
            <a:ext cx="2640264" cy="5402580"/>
          </a:xfrm>
          <a:prstGeom prst="roundRect">
            <a:avLst/>
          </a:prstGeom>
          <a:solidFill>
            <a:srgbClr val="20B2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68421" y="1525326"/>
            <a:ext cx="2196700" cy="162452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500" b="0" i="0">
                <a:solidFill>
                  <a:srgbClr val="FFFFFF"/>
                </a:solidFill>
                <a:latin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</a:rPr>
              <a:t>Trình bày sản phẩm:</a:t>
            </a:r>
            <a:r>
              <a:rPr sz="1500" b="0" i="0">
                <a:solidFill>
                  <a:srgbClr val="FFFFFF"/>
                </a:solidFill>
                <a:latin typeface="Arial"/>
              </a:rPr>
              <a:t> Hoàn thiện nội dung giới thiệu 4 nhóm giá trị chính và chuẩn hóa kịch bản thuyết trình, demo.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4620936"/>
            <a:ext cx="8717062" cy="73613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600" b="1" i="0">
                <a:solidFill>
                  <a:srgbClr val="1A1A1A"/>
                </a:solidFill>
                <a:latin typeface="Arial"/>
              </a:defRPr>
            </a:pPr>
            <a:r>
              <a:t>2. Kết quả nổi bật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5388904"/>
            <a:ext cx="8717062" cy="128480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0"/>
              </a:spcAft>
              <a:defRPr sz="2200" b="0" i="0">
                <a:solidFill>
                  <a:srgbClr val="333333"/>
                </a:solidFill>
                <a:latin typeface="Arial"/>
              </a:defRPr>
            </a:pPr>
            <a:r>
              <a:t>Các thành tựu chính trong việc rà soát nghiệp vụ và hoàn thiện hệ thống AI KPI Copilot để chuẩn bị cho báo cáo tuần.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kjc1x4z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8564" y="0"/>
            <a:ext cx="2743131" cy="30861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3" y="511058"/>
            <a:ext cx="8241586" cy="60323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3800" b="1" i="0">
                <a:solidFill>
                  <a:srgbClr val="1A1A1A"/>
                </a:solidFill>
                <a:latin typeface="Arial"/>
              </a:defRPr>
            </a:pPr>
            <a:r>
              <a:t>3. Nhật ký công việc chi tiết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" y="1234288"/>
            <a:ext cx="8796308" cy="27157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500" b="1" i="0">
                <a:solidFill>
                  <a:srgbClr val="444444"/>
                </a:solidFill>
                <a:latin typeface="Arial"/>
              </a:defRPr>
            </a:pPr>
            <a:r>
              <a:t>Tiến độ thực hiện và kết quả theo chuẩn đầu ra (CLO) trong tuầnAI KPI Copilot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365470" y="4648200"/>
            <a:ext cx="9460755" cy="0"/>
          </a:xfrm>
          <a:prstGeom prst="line">
            <a:avLst/>
          </a:prstGeom>
          <a:ln w="12700">
            <a:solidFill>
              <a:srgbClr val="0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1251173" y="4533900"/>
            <a:ext cx="228594" cy="2286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5762" y="3925214"/>
            <a:ext cx="2079415" cy="3867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008080"/>
                </a:solidFill>
                <a:latin typeface="Arial"/>
              </a:defRPr>
            </a:pPr>
            <a:r>
              <a:t>03/08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5762" y="4926665"/>
            <a:ext cx="2079415" cy="11225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Rà soát PoC và quy trình nghiệp vụ. Xác định luồng kiểm thử từ giao việc đến báo cáo. (CLO1, CLO2)</a:t>
            </a:r>
          </a:p>
        </p:txBody>
      </p:sp>
      <p:sp>
        <p:nvSpPr>
          <p:cNvPr id="9" name="Oval 8"/>
          <p:cNvSpPr/>
          <p:nvPr/>
        </p:nvSpPr>
        <p:spPr>
          <a:xfrm>
            <a:off x="3616362" y="4533900"/>
            <a:ext cx="228594" cy="2286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90951" y="3925214"/>
            <a:ext cx="2079415" cy="3867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008080"/>
                </a:solidFill>
                <a:latin typeface="Arial"/>
              </a:defRPr>
            </a:pPr>
            <a:r>
              <a:t>04/08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0951" y="4918472"/>
            <a:ext cx="2079415" cy="13437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Kiểm thử phân quyền và dashboard. Ghi nhận các tình huống kiểm soát quyền hạn người dùng. (CLO1, CLO2, CLO4)</a:t>
            </a:r>
          </a:p>
        </p:txBody>
      </p:sp>
      <p:sp>
        <p:nvSpPr>
          <p:cNvPr id="12" name="Oval 11"/>
          <p:cNvSpPr/>
          <p:nvPr/>
        </p:nvSpPr>
        <p:spPr>
          <a:xfrm>
            <a:off x="5981550" y="4533900"/>
            <a:ext cx="228594" cy="2286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56140" y="3925214"/>
            <a:ext cx="2079415" cy="3867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008080"/>
                </a:solidFill>
                <a:latin typeface="Arial"/>
              </a:defRPr>
            </a:pPr>
            <a:r>
              <a:t>05/08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140" y="4918472"/>
            <a:ext cx="2079415" cy="13437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Kiểm thử AI phân tích minh chứng. Đánh giá mức độ phù hợp và checklist yêu cầu tài liệu. (CLO1, CLO2, CLO4)</a:t>
            </a:r>
          </a:p>
        </p:txBody>
      </p:sp>
      <p:sp>
        <p:nvSpPr>
          <p:cNvPr id="15" name="Oval 14"/>
          <p:cNvSpPr/>
          <p:nvPr/>
        </p:nvSpPr>
        <p:spPr>
          <a:xfrm>
            <a:off x="8346739" y="4533900"/>
            <a:ext cx="228594" cy="2286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1329" y="3925214"/>
            <a:ext cx="2079415" cy="3867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008080"/>
                </a:solidFill>
                <a:latin typeface="Arial"/>
              </a:defRPr>
            </a:pPr>
            <a:r>
              <a:t>06/08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1329" y="4918472"/>
            <a:ext cx="2079415" cy="134372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Rà soát cơ chế tính điểm KPI. Tăng tính minh bạch và thuận tiện khi phản biện kết quả. (CLO1, CLO2, CLO5)</a:t>
            </a:r>
          </a:p>
        </p:txBody>
      </p:sp>
      <p:sp>
        <p:nvSpPr>
          <p:cNvPr id="18" name="Oval 17"/>
          <p:cNvSpPr/>
          <p:nvPr/>
        </p:nvSpPr>
        <p:spPr>
          <a:xfrm>
            <a:off x="10711928" y="4533900"/>
            <a:ext cx="228594" cy="228600"/>
          </a:xfrm>
          <a:prstGeom prst="ellipse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6517" y="3925214"/>
            <a:ext cx="2079415" cy="38679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300" b="1" i="0">
                <a:solidFill>
                  <a:srgbClr val="008080"/>
                </a:solidFill>
                <a:latin typeface="Arial"/>
              </a:defRPr>
            </a:pPr>
            <a:r>
              <a:t>07-09/08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6517" y="4926665"/>
            <a:ext cx="2079415" cy="11225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defRPr sz="1200" b="1" i="0">
                <a:solidFill>
                  <a:srgbClr val="333333"/>
                </a:solidFill>
                <a:latin typeface="Arial"/>
              </a:defRPr>
            </a:pPr>
            <a:r>
              <a:t>Hoàn thiện slide AI KPI Copilot, chạy demo và tổng hợp phản hồi báo cáo tuần. (CLO2, CLO3, CLO5)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ehlsj6s8.png"/>
          <p:cNvPicPr>
            <a:picLocks noChangeAspect="1"/>
          </p:cNvPicPr>
          <p:nvPr/>
        </p:nvPicPr>
        <p:blipFill>
          <a:blip r:embed="rId2"/>
          <a:srcRect l="6577" r="657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0" y="0"/>
            <a:ext cx="5791055" cy="6858000"/>
          </a:xfrm>
          <a:custGeom>
            <a:avLst/>
            <a:gdLst/>
            <a:ahLst/>
            <a:cxnLst/>
            <a:rect l="l" t="t" r="r" b="b"/>
            <a:pathLst>
              <a:path w="5791055" h="6858000">
                <a:moveTo>
                  <a:pt x="0" y="0"/>
                </a:moveTo>
                <a:lnTo>
                  <a:pt x="5791055" y="0"/>
                </a:lnTo>
                <a:lnTo>
                  <a:pt x="259073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986965" y="2095500"/>
            <a:ext cx="2070074" cy="3390900"/>
          </a:xfrm>
          <a:custGeom>
            <a:avLst/>
            <a:gdLst/>
            <a:ahLst/>
            <a:cxnLst/>
            <a:rect l="l" t="t" r="r" b="b"/>
            <a:pathLst>
              <a:path w="2070074" h="3390900">
                <a:moveTo>
                  <a:pt x="1582406" y="0"/>
                </a:moveTo>
                <a:lnTo>
                  <a:pt x="2070074" y="0"/>
                </a:lnTo>
                <a:lnTo>
                  <a:pt x="487668" y="3390900"/>
                </a:lnTo>
                <a:lnTo>
                  <a:pt x="0" y="3390900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597" y="824106"/>
            <a:ext cx="1081085" cy="60338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3400" b="1" i="0">
                <a:solidFill>
                  <a:srgbClr val="1A1A1A"/>
                </a:solidFill>
                <a:latin typeface="Arial"/>
              </a:defRPr>
            </a:pPr>
            <a:r>
              <a:t>4.1. Bảng tổng hợp năng lực đạt được và đối chiếu chuẩn đầu 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3234" y="7951013"/>
            <a:ext cx="7925" cy="-10930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333333"/>
                </a:solidFill>
                <a:latin typeface="Arial"/>
              </a:defRPr>
            </a:pPr>
            <a:r>
              <a:rPr sz="1400" b="0" i="0">
                <a:solidFill>
                  <a:srgbClr val="333333"/>
                </a:solidFill>
                <a:latin typeface="Arial"/>
              </a:rPr>
              <a:t>Dưới đây là chi tiết các chuẩn đầu ra học phần (CLO) đạt được trong quá trình thực tập, đối chiếu với các tiêu chuẩn quốc tế </a:t>
            </a:r>
            <a:r>
              <a:rPr sz="1400" b="0" i="0">
                <a:solidFill>
                  <a:srgbClr val="008080"/>
                </a:solidFill>
                <a:latin typeface="Arial"/>
              </a:rPr>
              <a:t>ABET, ASIIN và QAA</a:t>
            </a:r>
            <a:r>
              <a:rPr sz="1400" b="0" i="0">
                <a:solidFill>
                  <a:srgbClr val="333333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8mqxr0f0.png"/>
          <p:cNvPicPr>
            <a:picLocks noChangeAspect="1"/>
          </p:cNvPicPr>
          <p:nvPr/>
        </p:nvPicPr>
        <p:blipFill>
          <a:blip r:embed="rId2"/>
          <a:srcRect l="25751" r="25751"/>
          <a:stretch>
            <a:fillRect/>
          </a:stretch>
        </p:blipFill>
        <p:spPr>
          <a:xfrm>
            <a:off x="6553036" y="228600"/>
            <a:ext cx="5333867" cy="624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224" y="497043"/>
            <a:ext cx="5467975" cy="22160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4.1. Bảng tổng hợp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năng lực đạt được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và đối chiếu chuẩn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đầu 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224" y="2712842"/>
            <a:ext cx="5467975" cy="671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Chi tiết đối chiếu năng lực thực tập với các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tiêu chuẩn quốc tế ABET, ASIIN và QAA.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24" y="3286597"/>
            <a:ext cx="5467975" cy="35714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800" b="0" i="0">
                <a:solidFill>
                  <a:srgbClr val="008080"/>
                </a:solidFill>
                <a:latin typeface="Arial"/>
              </a:rPr>
              <a:t>CLO1: Áp dụng kiến thức chuyên môn vào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008080"/>
                </a:solidFill>
                <a:latin typeface="Arial"/>
              </a:rPr>
              <a:t>kiểm thử hệ thống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Nội dung: Áp dụng kiến thức phát triển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web, dữ liệu và AI để kiểm thử chức năng hệ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thống.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Đối chiếu: SO1 (ABET), Professional &amp;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Methodological Competence (ASIIN),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Knowledge &amp; Understanding (QAA)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CLO2: Phân tích nghiệp vụ và đánh giá kết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quả AI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Nội dung: Phân tích luồng nghiệp vụ, đầu ra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AI và các yếu tố ảnh hưởng đánh giá KPI.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Đối chiếu: SO2 (ABET), Application &amp;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Analysis Competence (ASIIN),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Problem-solving (QAA)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24" y="8049219"/>
            <a:ext cx="5467975" cy="-11912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Báo cáo thực tập chuyên môn - Tuần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_njy8byo.jpg"/>
          <p:cNvPicPr>
            <a:picLocks noChangeAspect="1"/>
          </p:cNvPicPr>
          <p:nvPr/>
        </p:nvPicPr>
        <p:blipFill>
          <a:blip r:embed="rId2"/>
          <a:srcRect l="21995" r="21995"/>
          <a:stretch>
            <a:fillRect/>
          </a:stretch>
        </p:blipFill>
        <p:spPr>
          <a:xfrm>
            <a:off x="6553036" y="228600"/>
            <a:ext cx="5333867" cy="624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224" y="497043"/>
            <a:ext cx="5467975" cy="22160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4.1. Bảng tổng hợp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năng lực đạt được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và đối chiếu chuẩn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đầu 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224" y="2712842"/>
            <a:ext cx="5467975" cy="671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Chi tiết đối chiếu năng lực thực tập với các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tiêu chuẩn quốc tế ABET, ASIIN và QAA.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24" y="3286597"/>
            <a:ext cx="5467975" cy="357140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800" b="0" i="0">
                <a:solidFill>
                  <a:srgbClr val="008080"/>
                </a:solidFill>
                <a:latin typeface="Arial"/>
              </a:rPr>
              <a:t>CLO3: Kỹ năng phối hợp và giao tiếp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008080"/>
                </a:solidFill>
                <a:latin typeface="Arial"/>
              </a:rPr>
              <a:t>chuyên nghiệp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Nội dung: Trao đổi phản hồi, phối hợp kiểm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thử và trình bày giải pháp phù hợp với người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nghe.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Đối chiếu: SO5 (ABET), Social Competence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(ASIIN), Teamwork &amp; Communication (QAA)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CLO4: Trách nhiệm đạo đức và bảo mật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thông tin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Nội dung: Tôn trọng phân quyền, bảo mật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dữ liệu minh chứng và duy trì vai trò quyết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định cuối cùng của con người.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Đối chiếu: SO4 (ABET), Ethical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Responsibility (ASIIN), Professional Conduct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(QAA)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24" y="8049219"/>
            <a:ext cx="5467975" cy="-11912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Báo cáo thực tập chuyên môn - Tuần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znm6et91.jpg"/>
          <p:cNvPicPr>
            <a:picLocks noChangeAspect="1"/>
          </p:cNvPicPr>
          <p:nvPr/>
        </p:nvPicPr>
        <p:blipFill>
          <a:blip r:embed="rId2"/>
          <a:srcRect l="25610" r="25610"/>
          <a:stretch>
            <a:fillRect/>
          </a:stretch>
        </p:blipFill>
        <p:spPr>
          <a:xfrm>
            <a:off x="6553036" y="228600"/>
            <a:ext cx="5333867" cy="6248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09224" y="497043"/>
            <a:ext cx="5467975" cy="22160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4.1. Bảng tổng hợp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năng lực đạt được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và đối chiếu chuẩn</a:t>
            </a:r>
          </a:p>
          <a:p>
            <a:pPr algn="l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defRPr sz="3600" b="1" i="0">
                <a:solidFill>
                  <a:srgbClr val="1A1A1A"/>
                </a:solidFill>
                <a:latin typeface="Arial"/>
              </a:defRPr>
            </a:pPr>
            <a:r>
              <a:t>đầu 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9224" y="2712842"/>
            <a:ext cx="5467975" cy="67153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Chi tiết đối chiếu năng lực thực tập với các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tiêu chuẩn quốc tế ABET, ASIIN và QAA.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9224" y="3345851"/>
            <a:ext cx="5467975" cy="324904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800" b="0" i="0">
                <a:solidFill>
                  <a:srgbClr val="008080"/>
                </a:solidFill>
                <a:latin typeface="Arial"/>
              </a:rPr>
              <a:t>4.1.5. CLO5: Năng lực tự học và hoàn thiện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008080"/>
                </a:solidFill>
                <a:latin typeface="Arial"/>
              </a:rPr>
              <a:t>tài liệu chuyên môn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Nội dung năng lực đạt được: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Tự nghiên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cứu, ghi chép kiểm thử, hoàn thiện tài liệu và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phản biện kết quả do AI đề xuất.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ABET SO: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SO3, SO7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Nhóm năng lực ASIIN: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Personal &amp;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Lifelong Learning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• </a:t>
            </a:r>
            <a:r>
              <a:rPr sz="1800" b="1" i="0">
                <a:solidFill>
                  <a:srgbClr val="1A1A1A"/>
                </a:solidFill>
                <a:latin typeface="Arial"/>
              </a:rPr>
              <a:t>Chuẩn đối sánh QAA:</a:t>
            </a:r>
            <a:r>
              <a:rPr sz="1800" b="0" i="0">
                <a:solidFill>
                  <a:srgbClr val="1A1A1A"/>
                </a:solidFill>
                <a:latin typeface="Arial"/>
              </a:rPr>
              <a:t> Employability &amp;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Reflection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224" y="6567891"/>
            <a:ext cx="5467975" cy="2901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Báo cáo thực tập chuyên môn - Tuần 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qi6abv4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3866" y="624169"/>
            <a:ext cx="5547221" cy="248698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1A1A1A"/>
                </a:solidFill>
                <a:latin typeface="Arial"/>
              </a:defRPr>
            </a:pPr>
            <a:r>
              <a:t>5. KHÓ KHĂN, CÁCH KHẮC PHỤC VÀ BÀI HỌC</a:t>
            </a:r>
          </a:p>
        </p:txBody>
      </p:sp>
      <p:pic>
        <p:nvPicPr>
          <p:cNvPr id="4" name="Picture 3" descr="tmp6jqnmttf.png"/>
          <p:cNvPicPr>
            <a:picLocks noChangeAspect="1"/>
          </p:cNvPicPr>
          <p:nvPr/>
        </p:nvPicPr>
        <p:blipFill>
          <a:blip r:embed="rId3"/>
          <a:srcRect t="3727" b="3727"/>
          <a:stretch>
            <a:fillRect/>
          </a:stretch>
        </p:blipFill>
        <p:spPr>
          <a:xfrm>
            <a:off x="380990" y="2453640"/>
            <a:ext cx="3657508" cy="19357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878" y="4621987"/>
            <a:ext cx="3727733" cy="71597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50" b="1" i="0">
                <a:solidFill>
                  <a:srgbClr val="1A1A1A"/>
                </a:solidFill>
                <a:latin typeface="Arial"/>
              </a:defRPr>
            </a:pPr>
            <a:r>
              <a:rPr sz="2150" b="1" i="0">
                <a:solidFill>
                  <a:srgbClr val="008080"/>
                </a:solidFill>
                <a:latin typeface="Arial"/>
              </a:rPr>
              <a:t>KHÓ KHĂN KHI ĐÁNH GIÁ ĐẦU RA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83" y="5402848"/>
            <a:ext cx="3119123" cy="8239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rPr sz="1000" b="1" i="0">
                <a:solidFill>
                  <a:srgbClr val="1A1A1A"/>
                </a:solidFill>
                <a:latin typeface="Arial"/>
              </a:rPr>
              <a:t>Cách khắc phục: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Kiểm tra nhiều trường hợp, so sánh giải thích với dữ liệu đầu vào.&lt;br&gt;</a:t>
            </a:r>
            <a:r>
              <a:rPr sz="1000" b="1" i="0">
                <a:solidFill>
                  <a:srgbClr val="1A1A1A"/>
                </a:solidFill>
                <a:latin typeface="Arial"/>
              </a:rPr>
              <a:t>Bài học: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Không coi điểm AI là kết luận cuối cùng.</a:t>
            </a:r>
          </a:p>
        </p:txBody>
      </p:sp>
      <p:pic>
        <p:nvPicPr>
          <p:cNvPr id="7" name="Picture 6" descr="tmpwr9sa0w_.jpeg"/>
          <p:cNvPicPr>
            <a:picLocks noChangeAspect="1"/>
          </p:cNvPicPr>
          <p:nvPr/>
        </p:nvPicPr>
        <p:blipFill>
          <a:blip r:embed="rId4"/>
          <a:srcRect t="10318" b="10318"/>
          <a:stretch>
            <a:fillRect/>
          </a:stretch>
        </p:blipFill>
        <p:spPr>
          <a:xfrm>
            <a:off x="4267093" y="2453640"/>
            <a:ext cx="3657508" cy="19357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31981" y="4624426"/>
            <a:ext cx="3727733" cy="6501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1A1A1A"/>
                </a:solidFill>
                <a:latin typeface="Arial"/>
              </a:defRPr>
            </a:pPr>
            <a:r>
              <a:rPr sz="2000" b="1" i="0">
                <a:solidFill>
                  <a:srgbClr val="008080"/>
                </a:solidFill>
                <a:latin typeface="Arial"/>
              </a:rPr>
              <a:t>KHÓ KHĂN VỀ TÍNH NHẤT QUÁN NGHIỆP VỤ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6286" y="5341888"/>
            <a:ext cx="3119123" cy="8239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rPr sz="1000" b="1" i="0">
                <a:solidFill>
                  <a:srgbClr val="1A1A1A"/>
                </a:solidFill>
                <a:latin typeface="Arial"/>
              </a:rPr>
              <a:t>Cách khắc phục: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Xây dựng kịch bản kiểm thử theo từng vai trò và trạng thái.&lt;br&gt;</a:t>
            </a:r>
            <a:r>
              <a:rPr sz="1000" b="1" i="0">
                <a:solidFill>
                  <a:srgbClr val="1A1A1A"/>
                </a:solidFill>
                <a:latin typeface="Arial"/>
              </a:rPr>
              <a:t>Bài học: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Theo dõi dữ liệu qua từng bước nghiệp vụ.</a:t>
            </a:r>
          </a:p>
        </p:txBody>
      </p:sp>
      <p:pic>
        <p:nvPicPr>
          <p:cNvPr id="10" name="Picture 9" descr="tmpfj0m51es.jpg"/>
          <p:cNvPicPr>
            <a:picLocks noChangeAspect="1"/>
          </p:cNvPicPr>
          <p:nvPr/>
        </p:nvPicPr>
        <p:blipFill>
          <a:blip r:embed="rId5"/>
          <a:srcRect l="403" r="403"/>
          <a:stretch>
            <a:fillRect/>
          </a:stretch>
        </p:blipFill>
        <p:spPr>
          <a:xfrm>
            <a:off x="8153196" y="2453640"/>
            <a:ext cx="3657508" cy="19357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18084" y="4622597"/>
            <a:ext cx="3727733" cy="69951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100" b="1" i="0">
                <a:solidFill>
                  <a:srgbClr val="1A1A1A"/>
                </a:solidFill>
                <a:latin typeface="Arial"/>
              </a:defRPr>
            </a:pPr>
            <a:r>
              <a:rPr sz="2100" b="1" i="0">
                <a:solidFill>
                  <a:srgbClr val="008080"/>
                </a:solidFill>
                <a:latin typeface="Arial"/>
              </a:rPr>
              <a:t>KHÓ KHĂN KHI TRÌNH BÀY SẢN PHẨM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2389" y="5387608"/>
            <a:ext cx="3119123" cy="8239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000" b="0" i="0">
                <a:solidFill>
                  <a:srgbClr val="1A1A1A"/>
                </a:solidFill>
                <a:latin typeface="Arial"/>
              </a:defRPr>
            </a:pPr>
            <a:r>
              <a:rPr sz="1000" b="1" i="0">
                <a:solidFill>
                  <a:srgbClr val="1A1A1A"/>
                </a:solidFill>
                <a:latin typeface="Arial"/>
              </a:rPr>
              <a:t>Cách khắc phục: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Gom nhóm thành bốn trụ cột và trình bày theo luồng nghiệp vụ.&lt;br&gt;</a:t>
            </a:r>
            <a:r>
              <a:rPr sz="1000" b="1" i="0">
                <a:solidFill>
                  <a:srgbClr val="1A1A1A"/>
                </a:solidFill>
                <a:latin typeface="Arial"/>
              </a:rPr>
              <a:t>Bài học:</a:t>
            </a:r>
            <a:r>
              <a:rPr sz="1000" b="0" i="0">
                <a:solidFill>
                  <a:srgbClr val="1A1A1A"/>
                </a:solidFill>
                <a:latin typeface="Arial"/>
              </a:rPr>
              <a:t> Giúp người nghe dễ dàng theo dõi hệ thống phức tạp.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qi6abv4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3866" y="669920"/>
            <a:ext cx="5547221" cy="12517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1A1A1A"/>
                </a:solidFill>
                <a:latin typeface="Arial"/>
              </a:defRPr>
            </a:pPr>
            <a:r>
              <a:t>6. MINH CHỨNG KẾT QUẢ</a:t>
            </a:r>
          </a:p>
        </p:txBody>
      </p:sp>
      <p:pic>
        <p:nvPicPr>
          <p:cNvPr id="4" name="Picture 3" descr="tmpau2_dybr.png"/>
          <p:cNvPicPr>
            <a:picLocks noChangeAspect="1"/>
          </p:cNvPicPr>
          <p:nvPr/>
        </p:nvPicPr>
        <p:blipFill>
          <a:blip r:embed="rId3"/>
          <a:srcRect l="403" r="403"/>
          <a:stretch>
            <a:fillRect/>
          </a:stretch>
        </p:blipFill>
        <p:spPr>
          <a:xfrm>
            <a:off x="380990" y="2453640"/>
            <a:ext cx="3657508" cy="193578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45878" y="4637532"/>
            <a:ext cx="3727733" cy="29626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750" b="1" i="0">
                <a:solidFill>
                  <a:srgbClr val="1A1A1A"/>
                </a:solidFill>
                <a:latin typeface="Arial"/>
              </a:defRPr>
            </a:pPr>
            <a:r>
              <a:rPr sz="1750" b="1" i="0">
                <a:solidFill>
                  <a:srgbClr val="008080"/>
                </a:solidFill>
                <a:latin typeface="Arial"/>
              </a:rPr>
              <a:t>6.1. HƯỚNG DẪN CHUẨN BỊ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83" y="5017465"/>
            <a:ext cx="3119123" cy="7365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1A1A1A"/>
                </a:solidFill>
                <a:latin typeface="Arial"/>
              </a:defRPr>
            </a:pPr>
            <a:r>
              <a:rPr sz="1250" b="1" i="0">
                <a:solidFill>
                  <a:srgbClr val="1A1A1A"/>
                </a:solidFill>
                <a:latin typeface="Arial"/>
              </a:rPr>
              <a:t>Lưu ý trước khi nộp: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Chèn </a:t>
            </a:r>
            <a:r>
              <a:rPr sz="1250" b="0" i="0">
                <a:solidFill>
                  <a:srgbClr val="008080"/>
                </a:solidFill>
                <a:latin typeface="Arial"/>
              </a:rPr>
              <a:t>ảnh chụp thực tế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vào MC02-MC05 hoặc đính kèm các tệp tương ứng.</a:t>
            </a:r>
          </a:p>
        </p:txBody>
      </p:sp>
      <p:pic>
        <p:nvPicPr>
          <p:cNvPr id="7" name="Picture 6" descr="tmpuxj58_dy.jpg"/>
          <p:cNvPicPr>
            <a:picLocks noChangeAspect="1"/>
          </p:cNvPicPr>
          <p:nvPr/>
        </p:nvPicPr>
        <p:blipFill>
          <a:blip r:embed="rId4"/>
          <a:srcRect t="2960" b="2960"/>
          <a:stretch>
            <a:fillRect/>
          </a:stretch>
        </p:blipFill>
        <p:spPr>
          <a:xfrm>
            <a:off x="4267093" y="2453640"/>
            <a:ext cx="3657508" cy="193578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231981" y="4634789"/>
            <a:ext cx="3727733" cy="3703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200" b="1" i="0">
                <a:solidFill>
                  <a:srgbClr val="1A1A1A"/>
                </a:solidFill>
                <a:latin typeface="Arial"/>
              </a:defRPr>
            </a:pPr>
            <a:r>
              <a:t>BẢO MẬT THÔNG TIN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36286" y="5086045"/>
            <a:ext cx="3119123" cy="7365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1A1A1A"/>
                </a:solidFill>
                <a:latin typeface="Arial"/>
              </a:defRPr>
            </a:pPr>
            <a:r>
              <a:rPr sz="1250" b="0" i="0">
                <a:solidFill>
                  <a:srgbClr val="1A1A1A"/>
                </a:solidFill>
                <a:latin typeface="Arial"/>
              </a:rPr>
              <a:t>Cần </a:t>
            </a:r>
            <a:r>
              <a:rPr sz="1250" b="0" i="0">
                <a:solidFill>
                  <a:srgbClr val="008080"/>
                </a:solidFill>
                <a:latin typeface="Arial"/>
              </a:rPr>
              <a:t>che token, mật khẩu, dữ liệu cá nhân</a:t>
            </a:r>
            <a:r>
              <a:rPr sz="1250" b="0" i="0">
                <a:solidFill>
                  <a:srgbClr val="1A1A1A"/>
                </a:solidFill>
                <a:latin typeface="Arial"/>
              </a:rPr>
              <a:t> và thông tin nội bộ không được phép công khai.</a:t>
            </a:r>
          </a:p>
        </p:txBody>
      </p:sp>
      <p:pic>
        <p:nvPicPr>
          <p:cNvPr id="10" name="Picture 9" descr="tmp9ehfpwgs.jpg"/>
          <p:cNvPicPr>
            <a:picLocks noChangeAspect="1"/>
          </p:cNvPicPr>
          <p:nvPr/>
        </p:nvPicPr>
        <p:blipFill>
          <a:blip r:embed="rId5"/>
          <a:srcRect t="2744" b="2744"/>
          <a:stretch>
            <a:fillRect/>
          </a:stretch>
        </p:blipFill>
        <p:spPr>
          <a:xfrm>
            <a:off x="8153196" y="2453640"/>
            <a:ext cx="3657508" cy="193578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18084" y="4635703"/>
            <a:ext cx="3727733" cy="34564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50" b="1" i="0">
                <a:solidFill>
                  <a:srgbClr val="1A1A1A"/>
                </a:solidFill>
                <a:latin typeface="Arial"/>
              </a:defRPr>
            </a:pPr>
            <a:r>
              <a:t>YÊU CẦU MINH CHỨNG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22389" y="5063185"/>
            <a:ext cx="3119123" cy="73654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8000"/>
              </a:lnSpc>
              <a:spcBef>
                <a:spcPts val="0"/>
              </a:spcBef>
              <a:spcAft>
                <a:spcPts val="0"/>
              </a:spcAft>
              <a:defRPr sz="1250" b="0" i="0">
                <a:solidFill>
                  <a:srgbClr val="1A1A1A"/>
                </a:solidFill>
                <a:latin typeface="Arial"/>
              </a:defRPr>
            </a:pPr>
            <a:r>
              <a:t>Đảm bảo minh chứng rõ ràng, trung thực và phản ánh đúng các kết quả kiểm thử hệ thống.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smwkep8k.jpg"/>
          <p:cNvPicPr>
            <a:picLocks noChangeAspect="1"/>
          </p:cNvPicPr>
          <p:nvPr/>
        </p:nvPicPr>
        <p:blipFill>
          <a:blip r:embed="rId2"/>
          <a:srcRect l="3302" r="3302"/>
          <a:stretch>
            <a:fillRect/>
          </a:stretch>
        </p:blipFill>
        <p:spPr>
          <a:xfrm>
            <a:off x="8115097" y="0"/>
            <a:ext cx="407659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0220" y="272461"/>
            <a:ext cx="7369880" cy="128464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1A1A1A"/>
                </a:solidFill>
                <a:latin typeface="Arial"/>
              </a:defRPr>
            </a:pPr>
            <a:r>
              <a:t>6.2. Danh mục các minh</a:t>
            </a:r>
          </a:p>
          <a:p>
            <a:pPr algn="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000" b="1" i="0">
                <a:solidFill>
                  <a:srgbClr val="1A1A1A"/>
                </a:solidFill>
                <a:latin typeface="Arial"/>
              </a:defRPr>
            </a:pPr>
            <a:r>
              <a:t>chứng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0220" y="1737214"/>
            <a:ext cx="7369880" cy="4360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08080"/>
                </a:solidFill>
                <a:latin typeface="Arial"/>
              </a:defRPr>
            </a:pPr>
            <a:r>
              <a:rPr sz="2600" b="1" i="0">
                <a:solidFill>
                  <a:srgbClr val="008080"/>
                </a:solidFill>
                <a:latin typeface="Arial"/>
              </a:rPr>
              <a:t>MC01:</a:t>
            </a:r>
            <a:r>
              <a:rPr sz="2600" b="1" i="0">
                <a:solidFill>
                  <a:srgbClr val="008080"/>
                </a:solidFill>
                <a:latin typeface="Arial"/>
              </a:rPr>
              <a:t> Tài liệu giới thiệu AI KPI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0220" y="2196803"/>
            <a:ext cx="7369880" cy="9845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Tài liệu giới thiệu AI KPI Copilot for Government. Thể hiện bài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toán, giải pháp và quy trình nghiệp vụ.&lt;br&gt;</a:t>
            </a:r>
            <a:r>
              <a:rPr sz="1800" b="0" i="0">
                <a:solidFill>
                  <a:srgbClr val="008080"/>
                </a:solidFill>
                <a:latin typeface="Arial"/>
              </a:rPr>
              <a:t>Trạng thái: Đã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008080"/>
                </a:solidFill>
                <a:latin typeface="Arial"/>
              </a:rPr>
              <a:t>hoàn thiện nội dung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220" y="3308000"/>
            <a:ext cx="7369880" cy="4360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08080"/>
                </a:solidFill>
                <a:latin typeface="Arial"/>
              </a:defRPr>
            </a:pPr>
            <a:r>
              <a:rPr sz="2600" b="1" i="0">
                <a:solidFill>
                  <a:srgbClr val="008080"/>
                </a:solidFill>
                <a:latin typeface="Arial"/>
              </a:rPr>
              <a:t>MC02:</a:t>
            </a:r>
            <a:r>
              <a:rPr sz="2600" b="1" i="0">
                <a:solidFill>
                  <a:srgbClr val="008080"/>
                </a:solidFill>
                <a:latin typeface="Arial"/>
              </a:rPr>
              <a:t> Ảnh kiểm thử hệ thống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0220" y="3767590"/>
            <a:ext cx="7369880" cy="9845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Ảnh kiểm thử phân quyền, dashboard và quản lý nhiệm vụ.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Thể hiện quyền truy cập theo ít nhất hai vai trò.&lt;br&gt;Trạng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thái: Cần chèn ảnh thực tế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0220" y="4878787"/>
            <a:ext cx="7369880" cy="4360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008080"/>
                </a:solidFill>
                <a:latin typeface="Arial"/>
              </a:defRPr>
            </a:pPr>
            <a:r>
              <a:t>MC03: Ảnh kết quả AI phân tích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0220" y="5338377"/>
            <a:ext cx="7369880" cy="98458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Ảnh kết quả AI phân tích minh chứng. Bao gồm điểm phù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hợp, checklist yêu cầu và giải thích kết quả.&lt;br&gt;Trạng thái:</a:t>
            </a:r>
          </a:p>
          <a:p>
            <a:pPr algn="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Cần chèn ảnh thực tế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k_j9859i.jpg"/>
          <p:cNvPicPr>
            <a:picLocks noChangeAspect="1"/>
          </p:cNvPicPr>
          <p:nvPr/>
        </p:nvPicPr>
        <p:blipFill>
          <a:blip r:embed="rId2"/>
          <a:srcRect l="21112" r="21112"/>
          <a:stretch>
            <a:fillRect/>
          </a:stretch>
        </p:blipFill>
        <p:spPr>
          <a:xfrm>
            <a:off x="0" y="0"/>
            <a:ext cx="3962301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58029" y="650565"/>
            <a:ext cx="6418927" cy="136282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350" b="1" i="0">
                <a:solidFill>
                  <a:srgbClr val="008080"/>
                </a:solidFill>
                <a:latin typeface="Arial"/>
              </a:defRPr>
            </a:pPr>
            <a:r>
              <a:t>6.2. Danh mục các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defRPr sz="4350" b="1" i="0">
                <a:solidFill>
                  <a:srgbClr val="008080"/>
                </a:solidFill>
                <a:latin typeface="Arial"/>
              </a:defRPr>
            </a:pPr>
            <a:r>
              <a:t>minh chứng kết quả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58029" y="2205545"/>
            <a:ext cx="6418927" cy="855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1A1A"/>
                </a:solidFill>
                <a:latin typeface="Arial"/>
              </a:defRPr>
            </a:pPr>
            <a:r>
              <a:rPr sz="2600" b="1" i="0">
                <a:solidFill>
                  <a:srgbClr val="008080"/>
                </a:solidFill>
                <a:latin typeface="Arial"/>
              </a:rPr>
              <a:t>MC04:</a:t>
            </a:r>
            <a:r>
              <a:rPr sz="2600" b="1" i="0">
                <a:solidFill>
                  <a:srgbClr val="1A1A1A"/>
                </a:solidFill>
                <a:latin typeface="Arial"/>
              </a:rPr>
              <a:t> Ảnh giải thích KPI &amp;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1A1A"/>
                </a:solidFill>
                <a:latin typeface="Arial"/>
              </a:defRPr>
            </a:pPr>
            <a:r>
              <a:rPr sz="2600" b="1" i="0">
                <a:solidFill>
                  <a:srgbClr val="1A1A1A"/>
                </a:solidFill>
                <a:latin typeface="Arial"/>
              </a:rPr>
              <a:t>Copilot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58029" y="3084076"/>
            <a:ext cx="6418927" cy="9928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Chèn ảnh thể hiện khả năng giải thích điểm, trả lời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câu hỏi nghiệp vụ hoặc xuất báo cáo phục vụ giao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rPr sz="1800" b="0" i="0">
                <a:solidFill>
                  <a:srgbClr val="1A1A1A"/>
                </a:solidFill>
                <a:latin typeface="Arial"/>
              </a:rPr>
              <a:t>ban.&lt;br&gt;</a:t>
            </a:r>
            <a:r>
              <a:rPr sz="1800" b="0" i="0">
                <a:solidFill>
                  <a:srgbClr val="008080"/>
                </a:solidFill>
                <a:latin typeface="Arial"/>
              </a:rPr>
              <a:t>Trạng thái: Cần chèn ảnh thực tế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58029" y="4451921"/>
            <a:ext cx="6418927" cy="85554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1A1A"/>
                </a:solidFill>
                <a:latin typeface="Arial"/>
              </a:defRPr>
            </a:pPr>
            <a:r>
              <a:rPr sz="2600" b="1" i="0">
                <a:solidFill>
                  <a:srgbClr val="008080"/>
                </a:solidFill>
                <a:latin typeface="Arial"/>
              </a:rPr>
              <a:t>MC05:</a:t>
            </a:r>
            <a:r>
              <a:rPr sz="2600" b="1" i="0">
                <a:solidFill>
                  <a:srgbClr val="1A1A1A"/>
                </a:solidFill>
                <a:latin typeface="Arial"/>
              </a:rPr>
              <a:t> Phản hồi của người hướng</a:t>
            </a:r>
          </a:p>
          <a:p>
            <a:pPr algn="l">
              <a:lnSpc>
                <a:spcPct val="98000"/>
              </a:lnSpc>
              <a:spcBef>
                <a:spcPts val="0"/>
              </a:spcBef>
              <a:spcAft>
                <a:spcPts val="0"/>
              </a:spcAft>
              <a:defRPr sz="2600" b="1" i="0">
                <a:solidFill>
                  <a:srgbClr val="1A1A1A"/>
                </a:solidFill>
                <a:latin typeface="Arial"/>
              </a:defRPr>
            </a:pPr>
            <a:r>
              <a:rPr sz="2600" b="1" i="0">
                <a:solidFill>
                  <a:srgbClr val="1A1A1A"/>
                </a:solidFill>
                <a:latin typeface="Arial"/>
              </a:rPr>
              <a:t>dẫn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58029" y="5330452"/>
            <a:ext cx="6418927" cy="99281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Chèn ảnh tin nhắn, nhận xét hoặc xác nhận tiến độ;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che thông tin cá nhân không cần thiết trước khi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00" b="0" i="0">
                <a:solidFill>
                  <a:srgbClr val="1A1A1A"/>
                </a:solidFill>
                <a:latin typeface="Arial"/>
              </a:defRPr>
            </a:pPr>
            <a:r>
              <a:t>nộp.&lt;br&gt;Trạng thái: Cần bổ sung nếu có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o3lt46jo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0" y="0"/>
            <a:ext cx="8496087" cy="6858000"/>
          </a:xfrm>
          <a:custGeom>
            <a:avLst/>
            <a:gdLst/>
            <a:ahLst/>
            <a:cxnLst/>
            <a:rect l="l" t="t" r="r" b="b"/>
            <a:pathLst>
              <a:path w="8496087" h="6858000">
                <a:moveTo>
                  <a:pt x="0" y="0"/>
                </a:moveTo>
                <a:lnTo>
                  <a:pt x="8496087" y="0"/>
                </a:lnTo>
                <a:lnTo>
                  <a:pt x="579105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502060" y="2171700"/>
            <a:ext cx="1343143" cy="2362200"/>
          </a:xfrm>
          <a:custGeom>
            <a:avLst/>
            <a:gdLst/>
            <a:ahLst/>
            <a:cxnLst/>
            <a:rect l="l" t="t" r="r" b="b"/>
            <a:pathLst>
              <a:path w="1343143" h="2362200">
                <a:moveTo>
                  <a:pt x="931674" y="0"/>
                </a:moveTo>
                <a:lnTo>
                  <a:pt x="1343143" y="0"/>
                </a:lnTo>
                <a:lnTo>
                  <a:pt x="411469" y="2362200"/>
                </a:lnTo>
                <a:lnTo>
                  <a:pt x="0" y="2362200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3608" y="484169"/>
            <a:ext cx="6971100" cy="13292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defRPr sz="4100" b="0" i="0">
                <a:solidFill>
                  <a:srgbClr val="008080"/>
                </a:solidFill>
                <a:latin typeface="Arial"/>
              </a:defRPr>
            </a:pPr>
            <a:r>
              <a:t>7. Tự đánh giá và kế hoạch tuần tiếp theo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29" y="1889455"/>
            <a:ext cx="2773611" cy="41971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A1A1A"/>
                </a:solidFill>
                <a:latin typeface="Arial"/>
              </a:defRPr>
            </a:pPr>
            <a:r>
              <a:t>Tự đánh giá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29" y="2207813"/>
            <a:ext cx="2773611" cy="396271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50" b="0" i="0">
                <a:solidFill>
                  <a:srgbClr val="1A1A1A"/>
                </a:solidFill>
                <a:latin typeface="Arial"/>
              </a:defRPr>
            </a:pPr>
            <a:r>
              <a:rPr sz="1850" b="0" i="0">
                <a:solidFill>
                  <a:srgbClr val="1A1A1A"/>
                </a:solidFill>
                <a:latin typeface="Arial"/>
              </a:rPr>
              <a:t>Em hoàn thành việc kiểm thử các luồng nghiệp vụ trọng tâm, hiểu rõ hơn cách AI hỗ trợ thẩm định minh chứng và </a:t>
            </a:r>
            <a:r>
              <a:rPr sz="1850" b="0" i="0">
                <a:solidFill>
                  <a:srgbClr val="008080"/>
                </a:solidFill>
                <a:latin typeface="Arial"/>
              </a:rPr>
              <a:t>giải thích KPI</a:t>
            </a:r>
            <a:r>
              <a:rPr sz="1850" b="0" i="0">
                <a:solidFill>
                  <a:srgbClr val="1A1A1A"/>
                </a:solidFill>
                <a:latin typeface="Arial"/>
              </a:rPr>
              <a:t>. Em cũng cải thiện khả năng tổng hợp, trình bày một hệ thống có nhiều chức năng theo hướng ngắn gọn và dễ hiểu.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9889" y="1874520"/>
            <a:ext cx="2773611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A1A1A"/>
                </a:solidFill>
                <a:latin typeface="Arial"/>
              </a:defRPr>
            </a:pPr>
            <a:r>
              <a:t>Kế hoạch tuần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9889" y="2617732"/>
            <a:ext cx="2773611" cy="297615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1850" b="0" i="0">
                <a:solidFill>
                  <a:srgbClr val="1A1A1A"/>
                </a:solidFill>
                <a:latin typeface="Arial"/>
              </a:defRPr>
            </a:pPr>
            <a:r>
              <a:rPr sz="1850" b="0" i="0">
                <a:solidFill>
                  <a:srgbClr val="1A1A1A"/>
                </a:solidFill>
                <a:latin typeface="Arial"/>
              </a:rPr>
              <a:t>Hoàn thiện phiên bản </a:t>
            </a:r>
            <a:r>
              <a:rPr sz="1850" b="0" i="0">
                <a:solidFill>
                  <a:srgbClr val="008080"/>
                </a:solidFill>
                <a:latin typeface="Arial"/>
              </a:rPr>
              <a:t>demo PoC</a:t>
            </a:r>
            <a:r>
              <a:rPr sz="1850" b="0" i="0">
                <a:solidFill>
                  <a:srgbClr val="1A1A1A"/>
                </a:solidFill>
                <a:latin typeface="Arial"/>
              </a:rPr>
              <a:t>, bổ sung dữ liệu kiểm thử, xử lý các lỗi còn lại, rà soát bảo mật/phân quyền và cập nhật tài liệu bàn giao theo phản hồi của người hướng dẫn.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mptgf7gh15.jpg"/>
          <p:cNvPicPr>
            <a:picLocks noChangeAspect="1"/>
          </p:cNvPicPr>
          <p:nvPr/>
        </p:nvPicPr>
        <p:blipFill>
          <a:blip r:embed="rId2"/>
          <a:srcRect t="17" b="17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Freeform 2"/>
          <p:cNvSpPr/>
          <p:nvPr/>
        </p:nvSpPr>
        <p:spPr>
          <a:xfrm>
            <a:off x="0" y="0"/>
            <a:ext cx="8496087" cy="6858000"/>
          </a:xfrm>
          <a:custGeom>
            <a:avLst/>
            <a:gdLst/>
            <a:ahLst/>
            <a:cxnLst/>
            <a:rect l="l" t="t" r="r" b="b"/>
            <a:pathLst>
              <a:path w="8496087" h="6858000">
                <a:moveTo>
                  <a:pt x="0" y="0"/>
                </a:moveTo>
                <a:lnTo>
                  <a:pt x="8496087" y="0"/>
                </a:lnTo>
                <a:lnTo>
                  <a:pt x="5791055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8F9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6502060" y="2171700"/>
            <a:ext cx="1343143" cy="2362200"/>
          </a:xfrm>
          <a:custGeom>
            <a:avLst/>
            <a:gdLst/>
            <a:ahLst/>
            <a:cxnLst/>
            <a:rect l="l" t="t" r="r" b="b"/>
            <a:pathLst>
              <a:path w="1343143" h="2362200">
                <a:moveTo>
                  <a:pt x="931674" y="0"/>
                </a:moveTo>
                <a:lnTo>
                  <a:pt x="1343143" y="0"/>
                </a:lnTo>
                <a:lnTo>
                  <a:pt x="411469" y="2362200"/>
                </a:lnTo>
                <a:lnTo>
                  <a:pt x="0" y="2362200"/>
                </a:lnTo>
                <a:close/>
              </a:path>
            </a:pathLst>
          </a:cu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9511" y="504944"/>
            <a:ext cx="7184155" cy="76831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defRPr sz="4600" b="0" i="0">
                <a:solidFill>
                  <a:srgbClr val="008080"/>
                </a:solidFill>
                <a:latin typeface="Arial"/>
              </a:defRPr>
            </a:pPr>
            <a:r>
              <a:t>8. X\u00e1c nh\u1eadn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4329" y="1844650"/>
            <a:ext cx="2773611" cy="162946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A1A1A"/>
                </a:solidFill>
                <a:latin typeface="Arial"/>
              </a:defRPr>
            </a:pPr>
            <a:r>
              <a:t>SINH VI\u00caN TH\u1ef0C HI\u1ec6N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4329" y="3433621"/>
            <a:ext cx="2773611" cy="110967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50" b="0" i="0">
                <a:solidFill>
                  <a:srgbClr val="1A1A1A"/>
                </a:solidFill>
                <a:latin typeface="Arial"/>
              </a:defRPr>
            </a:pPr>
            <a:r>
              <a:t>(K\u00fd v\u00e0 ghi r\u00f5 h\u1ecd t\u00ean)&lt;br&gt;&lt;br&gt;&lt;br&gt;&lt;br&gt;&lt;br&gt;&lt;br&gt;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49889" y="1829714"/>
            <a:ext cx="2773611" cy="203271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500" b="1" i="0">
                <a:solidFill>
                  <a:srgbClr val="1A1A1A"/>
                </a:solidFill>
                <a:latin typeface="Arial"/>
              </a:defRPr>
            </a:pPr>
            <a:r>
              <a:t>NG\u01af\u1edcI H\u01af\u1edaNG D\u1eaaN X\u00c1C NH\u1eacN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49889" y="3753015"/>
            <a:ext cx="2773611" cy="256730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defRPr sz="2050" b="0" i="0">
                <a:solidFill>
                  <a:srgbClr val="1A1A1A"/>
                </a:solidFill>
                <a:latin typeface="Arial"/>
              </a:defRPr>
            </a:pPr>
            <a:r>
              <a:t>(K\u00fd, ghi r\u00f5 h\u1ecd t\u00ean ho\u1eb7c x\u00e1c nh\u1eadn \u0111i\u1ec7n t\u1eed)&lt;br&gt;&lt;br&gt;&lt;br&gt;&lt;br&gt;&lt;br&gt;&lt;br&gt;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