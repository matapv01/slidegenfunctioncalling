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wp7i3k0d.jpg"/>
          <p:cNvPicPr>
            <a:picLocks noChangeAspect="1"/>
          </p:cNvPicPr>
          <p:nvPr/>
        </p:nvPicPr>
        <p:blipFill>
          <a:blip r:embed="rId2"/>
          <a:srcRect l="179" r="179"/>
          <a:stretch>
            <a:fillRect/>
          </a:stretch>
        </p:blipFill>
        <p:spPr>
          <a:xfrm>
            <a:off x="0" y="0"/>
            <a:ext cx="12191695" cy="6858000"/>
          </a:xfrm>
          <a:prstGeom prst="rect">
            <a:avLst/>
          </a:prstGeom>
        </p:spPr>
      </p:pic>
      <p:pic>
        <p:nvPicPr>
          <p:cNvPr id="3" name="Picture 2" descr="tmpk508mlf6.png"/>
          <p:cNvPicPr>
            <a:picLocks noChangeAspect="1"/>
          </p:cNvPicPr>
          <p:nvPr/>
        </p:nvPicPr>
        <p:blipFill>
          <a:blip r:embed="rId3"/>
          <a:stretch>
            <a:fillRect/>
          </a:stretch>
        </p:blipFill>
        <p:spPr>
          <a:xfrm>
            <a:off x="0" y="0"/>
            <a:ext cx="12191695" cy="6858000"/>
          </a:xfrm>
          <a:prstGeom prst="rect">
            <a:avLst/>
          </a:prstGeom>
        </p:spPr>
      </p:pic>
      <p:sp>
        <p:nvSpPr>
          <p:cNvPr id="4" name="TextBox 3"/>
          <p:cNvSpPr txBox="1"/>
          <p:nvPr/>
        </p:nvSpPr>
        <p:spPr>
          <a:xfrm>
            <a:off x="426709" y="2127458"/>
            <a:ext cx="8717062" cy="1422898"/>
          </a:xfrm>
          <a:prstGeom prst="rect">
            <a:avLst/>
          </a:prstGeom>
          <a:noFill/>
        </p:spPr>
        <p:txBody>
          <a:bodyPr wrap="square" lIns="0" rIns="0" tIns="0" bIns="0" anchor="ctr">
            <a:noAutofit/>
          </a:bodyPr>
          <a:lstStyle/>
          <a:p>
            <a:pPr algn="l">
              <a:lnSpc>
                <a:spcPct val="95000"/>
              </a:lnSpc>
              <a:spcBef>
                <a:spcPts val="0"/>
              </a:spcBef>
              <a:spcAft>
                <a:spcPts val="0"/>
              </a:spcAft>
              <a:defRPr sz="4643" b="1" i="0">
                <a:solidFill>
                  <a:srgbClr val="FFFFFF"/>
                </a:solidFill>
                <a:latin typeface="Arial"/>
              </a:defRPr>
            </a:pPr>
            <a:r>
              <a:t>NÊN SỐNG THẾ NÀO TRONG KỶ NGUYÊN AI</a:t>
            </a:r>
          </a:p>
        </p:txBody>
      </p:sp>
      <p:sp>
        <p:nvSpPr>
          <p:cNvPr id="5" name="TextBox 4"/>
          <p:cNvSpPr txBox="1"/>
          <p:nvPr/>
        </p:nvSpPr>
        <p:spPr>
          <a:xfrm>
            <a:off x="414518" y="3681487"/>
            <a:ext cx="9351030" cy="1208764"/>
          </a:xfrm>
          <a:prstGeom prst="rect">
            <a:avLst/>
          </a:prstGeom>
          <a:noFill/>
        </p:spPr>
        <p:txBody>
          <a:bodyPr wrap="square" lIns="0" rIns="0" tIns="0" bIns="0" anchor="t">
            <a:noAutofit/>
          </a:bodyPr>
          <a:lstStyle/>
          <a:p>
            <a:pPr algn="l">
              <a:lnSpc>
                <a:spcPct val="108000"/>
              </a:lnSpc>
              <a:spcBef>
                <a:spcPts val="0"/>
              </a:spcBef>
              <a:spcAft>
                <a:spcPts val="0"/>
              </a:spcAft>
              <a:defRPr sz="1719" b="0" i="0">
                <a:solidFill>
                  <a:srgbClr val="E0E0E0"/>
                </a:solidFill>
                <a:latin typeface="Arial"/>
              </a:defRPr>
            </a:pPr>
            <a:r>
              <a:t>AI không phải cơn bão mà là dòng chảy mới. Hãy trở nên linh hoạt, tỉnh táo và chủ động. Hiểu AI để không sợ hãi, hãy làm cùng nó như một đồng đội tăng lực. Kết hợp giá trị con người với sức mạnh công nghệ sẽ tạo nên "siêu năng lực" thực sự.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vyrd86f6.jpeg"/>
          <p:cNvPicPr>
            <a:picLocks noChangeAspect="1"/>
          </p:cNvPicPr>
          <p:nvPr/>
        </p:nvPicPr>
        <p:blipFill>
          <a:blip r:embed="rId2"/>
          <a:srcRect l="21912" r="21912"/>
          <a:stretch>
            <a:fillRect/>
          </a:stretch>
        </p:blipFill>
        <p:spPr>
          <a:xfrm>
            <a:off x="548626" y="624840"/>
            <a:ext cx="4724282" cy="5608320"/>
          </a:xfrm>
          <a:prstGeom prst="rect">
            <a:avLst/>
          </a:prstGeom>
        </p:spPr>
      </p:pic>
      <p:sp>
        <p:nvSpPr>
          <p:cNvPr id="4" name="Rectangle 3"/>
          <p:cNvSpPr/>
          <p:nvPr/>
        </p:nvSpPr>
        <p:spPr>
          <a:xfrm>
            <a:off x="5699617" y="624840"/>
            <a:ext cx="5516742" cy="5608320"/>
          </a:xfrm>
          <a:prstGeom prst="rect">
            <a:avLst/>
          </a:prstGeom>
          <a:solidFill>
            <a:srgbClr val="2324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28212" y="929640"/>
            <a:ext cx="198115" cy="4998720"/>
          </a:xfrm>
          <a:prstGeom prst="rect">
            <a:avLst/>
          </a:prstGeom>
          <a:solidFill>
            <a:srgbClr val="98F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89650" y="929640"/>
            <a:ext cx="198115" cy="4998720"/>
          </a:xfrm>
          <a:prstGeom prst="rect">
            <a:avLst/>
          </a:prstGeom>
          <a:solidFill>
            <a:srgbClr val="98F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838" y="1194740"/>
            <a:ext cx="3962301" cy="337414"/>
          </a:xfrm>
          <a:prstGeom prst="rect">
            <a:avLst/>
          </a:prstGeom>
          <a:noFill/>
        </p:spPr>
        <p:txBody>
          <a:bodyPr wrap="square" lIns="0" rIns="0" tIns="0" bIns="0" anchor="ctr">
            <a:noAutofit/>
          </a:bodyPr>
          <a:lstStyle/>
          <a:p>
            <a:pPr algn="ctr">
              <a:lnSpc>
                <a:spcPct val="100000"/>
              </a:lnSpc>
              <a:spcBef>
                <a:spcPts val="0"/>
              </a:spcBef>
              <a:spcAft>
                <a:spcPts val="0"/>
              </a:spcAft>
              <a:defRPr sz="2068" b="0" i="0">
                <a:solidFill>
                  <a:srgbClr val="98F033"/>
                </a:solidFill>
                <a:latin typeface="Times New Roman"/>
              </a:defRPr>
            </a:pPr>
            <a:r>
              <a:t>PHẦN 1</a:t>
            </a:r>
          </a:p>
        </p:txBody>
      </p:sp>
      <p:sp>
        <p:nvSpPr>
          <p:cNvPr id="8" name="TextBox 7"/>
          <p:cNvSpPr txBox="1"/>
          <p:nvPr/>
        </p:nvSpPr>
        <p:spPr>
          <a:xfrm>
            <a:off x="6476838" y="1708072"/>
            <a:ext cx="3962301" cy="1907950"/>
          </a:xfrm>
          <a:prstGeom prst="rect">
            <a:avLst/>
          </a:prstGeom>
          <a:noFill/>
        </p:spPr>
        <p:txBody>
          <a:bodyPr wrap="square" lIns="0" rIns="0" tIns="0" bIns="0" anchor="ctr">
            <a:noAutofit/>
          </a:bodyPr>
          <a:lstStyle/>
          <a:p>
            <a:pPr algn="ctr">
              <a:lnSpc>
                <a:spcPct val="92000"/>
              </a:lnSpc>
              <a:spcBef>
                <a:spcPts val="0"/>
              </a:spcBef>
              <a:spcAft>
                <a:spcPts val="0"/>
              </a:spcAft>
              <a:defRPr sz="4323" b="0" i="1">
                <a:solidFill>
                  <a:srgbClr val="FFFFFF"/>
                </a:solidFill>
                <a:latin typeface="Times New Roman"/>
              </a:defRPr>
            </a:pPr>
            <a:r>
              <a:t>Nên sống thế nào trong kỷ nguyên AI</a:t>
            </a:r>
          </a:p>
        </p:txBody>
      </p:sp>
      <p:sp>
        <p:nvSpPr>
          <p:cNvPr id="9" name="TextBox 8"/>
          <p:cNvSpPr txBox="1"/>
          <p:nvPr/>
        </p:nvSpPr>
        <p:spPr>
          <a:xfrm>
            <a:off x="6476838" y="3793983"/>
            <a:ext cx="3962301" cy="1928195"/>
          </a:xfrm>
          <a:prstGeom prst="rect">
            <a:avLst/>
          </a:prstGeom>
          <a:noFill/>
        </p:spPr>
        <p:txBody>
          <a:bodyPr wrap="square" lIns="0" rIns="0" tIns="0" bIns="0" anchor="t">
            <a:noAutofit/>
          </a:bodyPr>
          <a:lstStyle/>
          <a:p>
            <a:pPr algn="ctr">
              <a:lnSpc>
                <a:spcPct val="142000"/>
              </a:lnSpc>
              <a:spcBef>
                <a:spcPts val="0"/>
              </a:spcBef>
              <a:spcAft>
                <a:spcPts val="0"/>
              </a:spcAft>
              <a:defRPr sz="1645" b="0" i="0">
                <a:solidFill>
                  <a:srgbClr val="E0E0E0"/>
                </a:solidFill>
                <a:latin typeface="Arial"/>
              </a:defRPr>
            </a:pPr>
            <a:r>
              <a:rPr sz="1645" b="0" i="0">
                <a:solidFill>
                  <a:srgbClr val="E0E0E0"/>
                </a:solidFill>
                <a:latin typeface="Arial"/>
              </a:rPr>
              <a:t>AI không phải là mối đe dọa mà là một dòng chảy mới. Kỷ nguyên này đòi hỏi con người phải </a:t>
            </a:r>
            <a:r>
              <a:rPr sz="1645" b="0" i="0">
                <a:solidFill>
                  <a:srgbClr val="98F033"/>
                </a:solidFill>
                <a:latin typeface="Arial"/>
              </a:rPr>
              <a:t>linh hoạt, tỉnh táo và chủ động</a:t>
            </a:r>
            <a:r>
              <a:rPr sz="1645" b="0" i="0">
                <a:solidFill>
                  <a:srgbClr val="E0E0E0"/>
                </a:solidFill>
                <a:latin typeface="Arial"/>
              </a:rPr>
              <a:t> để thích nghi thay vì cố gắng trở nên siêu phàm.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pic>
        <p:nvPicPr>
          <p:cNvPr id="2" name="Picture 1" descr="tmpasti7eqh.jpg"/>
          <p:cNvPicPr>
            <a:picLocks noChangeAspect="1"/>
          </p:cNvPicPr>
          <p:nvPr/>
        </p:nvPicPr>
        <p:blipFill>
          <a:blip r:embed="rId2"/>
          <a:srcRect l="7318" r="7318"/>
          <a:stretch>
            <a:fillRect/>
          </a:stretch>
        </p:blipFill>
        <p:spPr>
          <a:xfrm>
            <a:off x="6553036" y="228600"/>
            <a:ext cx="5333867" cy="6248400"/>
          </a:xfrm>
          <a:prstGeom prst="rect">
            <a:avLst/>
          </a:prstGeom>
        </p:spPr>
      </p:pic>
      <p:sp>
        <p:nvSpPr>
          <p:cNvPr id="3" name="TextBox 2"/>
          <p:cNvSpPr txBox="1"/>
          <p:nvPr/>
        </p:nvSpPr>
        <p:spPr>
          <a:xfrm>
            <a:off x="809224" y="515551"/>
            <a:ext cx="5467975" cy="1716365"/>
          </a:xfrm>
          <a:prstGeom prst="rect">
            <a:avLst/>
          </a:prstGeom>
          <a:noFill/>
        </p:spPr>
        <p:txBody>
          <a:bodyPr wrap="square" lIns="0" rIns="0" tIns="0" bIns="0" anchor="t">
            <a:noAutofit/>
          </a:bodyPr>
          <a:lstStyle/>
          <a:p>
            <a:pPr algn="l">
              <a:lnSpc>
                <a:spcPct val="92000"/>
              </a:lnSpc>
              <a:spcBef>
                <a:spcPts val="0"/>
              </a:spcBef>
              <a:spcAft>
                <a:spcPts val="0"/>
              </a:spcAft>
              <a:defRPr sz="5600" b="1" i="0">
                <a:solidFill>
                  <a:srgbClr val="98F033"/>
                </a:solidFill>
                <a:latin typeface="Arial"/>
              </a:defRPr>
            </a:pPr>
            <a:r>
              <a:t>THẤU HIỂU</a:t>
            </a:r>
          </a:p>
          <a:p>
            <a:pPr algn="l">
              <a:lnSpc>
                <a:spcPct val="92000"/>
              </a:lnSpc>
              <a:spcBef>
                <a:spcPts val="0"/>
              </a:spcBef>
              <a:spcAft>
                <a:spcPts val="0"/>
              </a:spcAft>
              <a:defRPr sz="5600" b="1" i="0">
                <a:solidFill>
                  <a:srgbClr val="98F033"/>
                </a:solidFill>
                <a:latin typeface="Arial"/>
              </a:defRPr>
            </a:pPr>
            <a:r>
              <a:t>AI</a:t>
            </a:r>
          </a:p>
        </p:txBody>
      </p:sp>
      <p:sp>
        <p:nvSpPr>
          <p:cNvPr id="4" name="TextBox 3"/>
          <p:cNvSpPr txBox="1"/>
          <p:nvPr/>
        </p:nvSpPr>
        <p:spPr>
          <a:xfrm>
            <a:off x="809224" y="2237354"/>
            <a:ext cx="5467975" cy="1017179"/>
          </a:xfrm>
          <a:prstGeom prst="rect">
            <a:avLst/>
          </a:prstGeom>
          <a:noFill/>
        </p:spPr>
        <p:txBody>
          <a:bodyPr wrap="square" lIns="0" rIns="0" tIns="0" bIns="0" anchor="t">
            <a:noAutofit/>
          </a:bodyPr>
          <a:lstStyle/>
          <a:p>
            <a:pPr algn="l">
              <a:lnSpc>
                <a:spcPct val="105000"/>
              </a:lnSpc>
              <a:spcBef>
                <a:spcPts val="0"/>
              </a:spcBef>
              <a:spcAft>
                <a:spcPts val="0"/>
              </a:spcAft>
              <a:defRPr sz="2800" b="0" i="0">
                <a:solidFill>
                  <a:srgbClr val="E0E0E0"/>
                </a:solidFill>
                <a:latin typeface="Arial"/>
              </a:defRPr>
            </a:pPr>
            <a:r>
              <a:t>1.1. Thấu hiểu AI để xóa bỏ</a:t>
            </a:r>
          </a:p>
          <a:p>
            <a:pPr algn="l">
              <a:lnSpc>
                <a:spcPct val="105000"/>
              </a:lnSpc>
              <a:spcBef>
                <a:spcPts val="0"/>
              </a:spcBef>
              <a:spcAft>
                <a:spcPts val="0"/>
              </a:spcAft>
              <a:defRPr sz="2800" b="0" i="0">
                <a:solidFill>
                  <a:srgbClr val="E0E0E0"/>
                </a:solidFill>
                <a:latin typeface="Arial"/>
              </a:defRPr>
            </a:pPr>
            <a:r>
              <a:t>nỗi sợ</a:t>
            </a:r>
          </a:p>
        </p:txBody>
      </p:sp>
      <p:sp>
        <p:nvSpPr>
          <p:cNvPr id="5" name="TextBox 4"/>
          <p:cNvSpPr txBox="1"/>
          <p:nvPr/>
        </p:nvSpPr>
        <p:spPr>
          <a:xfrm>
            <a:off x="809224" y="3211105"/>
            <a:ext cx="5467975" cy="3035735"/>
          </a:xfrm>
          <a:prstGeom prst="rect">
            <a:avLst/>
          </a:prstGeom>
          <a:noFill/>
        </p:spPr>
        <p:txBody>
          <a:bodyPr wrap="square" lIns="0" rIns="0" tIns="0" bIns="0" anchor="t">
            <a:noAutofit/>
          </a:bodyPr>
          <a:lstStyle/>
          <a:p>
            <a:pPr algn="l">
              <a:lnSpc>
                <a:spcPct val="108000"/>
              </a:lnSpc>
              <a:spcBef>
                <a:spcPts val="0"/>
              </a:spcBef>
              <a:spcAft>
                <a:spcPts val="0"/>
              </a:spcAft>
              <a:defRPr sz="2800" b="0" i="0">
                <a:solidFill>
                  <a:srgbClr val="E0E0E0"/>
                </a:solidFill>
                <a:latin typeface="Arial"/>
              </a:defRPr>
            </a:pPr>
            <a:r>
              <a:rPr sz="2800" b="0" i="0">
                <a:solidFill>
                  <a:srgbClr val="E0E0E0"/>
                </a:solidFill>
                <a:latin typeface="Arial"/>
              </a:rPr>
              <a:t>• AI mang lại </a:t>
            </a:r>
            <a:r>
              <a:rPr sz="2800" b="0" i="0">
                <a:solidFill>
                  <a:srgbClr val="98F033"/>
                </a:solidFill>
                <a:latin typeface="Arial"/>
              </a:rPr>
              <a:t>lợi thế vượt trội</a:t>
            </a:r>
          </a:p>
          <a:p>
            <a:pPr algn="l">
              <a:lnSpc>
                <a:spcPct val="108000"/>
              </a:lnSpc>
              <a:spcBef>
                <a:spcPts val="0"/>
              </a:spcBef>
              <a:spcAft>
                <a:spcPts val="0"/>
              </a:spcAft>
              <a:defRPr sz="2800" b="0" i="0">
                <a:solidFill>
                  <a:srgbClr val="E0E0E0"/>
                </a:solidFill>
                <a:latin typeface="Arial"/>
              </a:defRPr>
            </a:pPr>
            <a:r>
              <a:rPr sz="2800" b="0" i="0">
                <a:solidFill>
                  <a:srgbClr val="E0E0E0"/>
                </a:solidFill>
                <a:latin typeface="Arial"/>
              </a:rPr>
              <a:t>cho người dùng.</a:t>
            </a:r>
          </a:p>
          <a:p>
            <a:pPr algn="l">
              <a:lnSpc>
                <a:spcPct val="108000"/>
              </a:lnSpc>
              <a:spcBef>
                <a:spcPts val="0"/>
              </a:spcBef>
              <a:spcAft>
                <a:spcPts val="0"/>
              </a:spcAft>
              <a:defRPr sz="2800" b="0" i="0">
                <a:solidFill>
                  <a:srgbClr val="E0E0E0"/>
                </a:solidFill>
                <a:latin typeface="Arial"/>
              </a:defRPr>
            </a:pPr>
            <a:r>
              <a:rPr sz="2800" b="0" i="0">
                <a:solidFill>
                  <a:srgbClr val="E0E0E0"/>
                </a:solidFill>
                <a:latin typeface="Arial"/>
              </a:rPr>
              <a:t>• Nguy hiểm nằm ở sự thiếu</a:t>
            </a:r>
          </a:p>
          <a:p>
            <a:pPr algn="l">
              <a:lnSpc>
                <a:spcPct val="108000"/>
              </a:lnSpc>
              <a:spcBef>
                <a:spcPts val="0"/>
              </a:spcBef>
              <a:spcAft>
                <a:spcPts val="0"/>
              </a:spcAft>
              <a:defRPr sz="2800" b="0" i="0">
                <a:solidFill>
                  <a:srgbClr val="E0E0E0"/>
                </a:solidFill>
                <a:latin typeface="Arial"/>
              </a:defRPr>
            </a:pPr>
            <a:r>
              <a:rPr sz="2800" b="0" i="0">
                <a:solidFill>
                  <a:srgbClr val="E0E0E0"/>
                </a:solidFill>
                <a:latin typeface="Arial"/>
              </a:rPr>
              <a:t>hiểu biết.</a:t>
            </a:r>
          </a:p>
          <a:p>
            <a:pPr algn="l">
              <a:lnSpc>
                <a:spcPct val="108000"/>
              </a:lnSpc>
              <a:spcBef>
                <a:spcPts val="0"/>
              </a:spcBef>
              <a:spcAft>
                <a:spcPts val="0"/>
              </a:spcAft>
              <a:defRPr sz="2800" b="0" i="0">
                <a:solidFill>
                  <a:srgbClr val="E0E0E0"/>
                </a:solidFill>
                <a:latin typeface="Arial"/>
              </a:defRPr>
            </a:pPr>
            <a:r>
              <a:rPr sz="2800" b="0" i="0">
                <a:solidFill>
                  <a:srgbClr val="E0E0E0"/>
                </a:solidFill>
                <a:latin typeface="Arial"/>
              </a:rPr>
              <a:t>• Hãy làm chủ thay vì để AI</a:t>
            </a:r>
          </a:p>
          <a:p>
            <a:pPr algn="l">
              <a:lnSpc>
                <a:spcPct val="108000"/>
              </a:lnSpc>
              <a:spcBef>
                <a:spcPts val="0"/>
              </a:spcBef>
              <a:spcAft>
                <a:spcPts val="0"/>
              </a:spcAft>
              <a:defRPr sz="2800" b="0" i="0">
                <a:solidFill>
                  <a:srgbClr val="E0E0E0"/>
                </a:solidFill>
                <a:latin typeface="Arial"/>
              </a:defRPr>
            </a:pPr>
            <a:r>
              <a:rPr sz="2800" b="0" i="0">
                <a:solidFill>
                  <a:srgbClr val="E0E0E0"/>
                </a:solidFill>
                <a:latin typeface="Arial"/>
              </a:rPr>
              <a:t>dẫn dắt.</a:t>
            </a:r>
          </a:p>
        </p:txBody>
      </p:sp>
      <p:sp>
        <p:nvSpPr>
          <p:cNvPr id="6" name="TextBox 5"/>
          <p:cNvSpPr txBox="1"/>
          <p:nvPr/>
        </p:nvSpPr>
        <p:spPr>
          <a:xfrm>
            <a:off x="809224" y="6248827"/>
            <a:ext cx="5467975" cy="609173"/>
          </a:xfrm>
          <a:prstGeom prst="rect">
            <a:avLst/>
          </a:prstGeom>
          <a:noFill/>
        </p:spPr>
        <p:txBody>
          <a:bodyPr wrap="square" lIns="0" rIns="0" tIns="0" bIns="0" anchor="t">
            <a:noAutofit/>
          </a:bodyPr>
          <a:lstStyle/>
          <a:p>
            <a:pPr algn="l">
              <a:lnSpc>
                <a:spcPct val="105000"/>
              </a:lnSpc>
              <a:spcBef>
                <a:spcPts val="0"/>
              </a:spcBef>
              <a:spcAft>
                <a:spcPts val="0"/>
              </a:spcAft>
              <a:defRPr sz="2800" b="0" i="0">
                <a:solidFill>
                  <a:srgbClr val="E0E0E0"/>
                </a:solidFill>
                <a:latin typeface="Arial"/>
              </a:defRPr>
            </a:pPr>
            <a:r>
              <a:t>1. CÁCH SỐNG THỜI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pic>
        <p:nvPicPr>
          <p:cNvPr id="2" name="Picture 1" descr="tmp1lzm4xd1.jpg"/>
          <p:cNvPicPr>
            <a:picLocks noChangeAspect="1"/>
          </p:cNvPicPr>
          <p:nvPr/>
        </p:nvPicPr>
        <p:blipFill>
          <a:blip r:embed="rId2"/>
          <a:srcRect l="179" r="179"/>
          <a:stretch>
            <a:fillRect/>
          </a:stretch>
        </p:blipFill>
        <p:spPr>
          <a:xfrm>
            <a:off x="0" y="0"/>
            <a:ext cx="12191695" cy="6858000"/>
          </a:xfrm>
          <a:prstGeom prst="rect">
            <a:avLst/>
          </a:prstGeom>
        </p:spPr>
      </p:pic>
      <p:sp>
        <p:nvSpPr>
          <p:cNvPr id="3" name="Freeform 2"/>
          <p:cNvSpPr/>
          <p:nvPr/>
        </p:nvSpPr>
        <p:spPr>
          <a:xfrm>
            <a:off x="0" y="0"/>
            <a:ext cx="5791055" cy="6858000"/>
          </a:xfrm>
          <a:custGeom>
            <a:avLst/>
            <a:gdLst/>
            <a:ahLst/>
            <a:cxnLst/>
            <a:rect l="l" t="t" r="r" b="b"/>
            <a:pathLst>
              <a:path w="5791055" h="6858000">
                <a:moveTo>
                  <a:pt x="0" y="0"/>
                </a:moveTo>
                <a:lnTo>
                  <a:pt x="5791055" y="0"/>
                </a:lnTo>
                <a:lnTo>
                  <a:pt x="2590735" y="6858000"/>
                </a:lnTo>
                <a:lnTo>
                  <a:pt x="0" y="6858000"/>
                </a:lnTo>
                <a:close/>
              </a:path>
            </a:pathLst>
          </a:custGeom>
          <a:solidFill>
            <a:srgbClr val="1A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986965" y="2095500"/>
            <a:ext cx="2070074" cy="3390900"/>
          </a:xfrm>
          <a:custGeom>
            <a:avLst/>
            <a:gdLst/>
            <a:ahLst/>
            <a:cxnLst/>
            <a:rect l="l" t="t" r="r" b="b"/>
            <a:pathLst>
              <a:path w="2070074" h="3390900">
                <a:moveTo>
                  <a:pt x="1582406" y="0"/>
                </a:moveTo>
                <a:lnTo>
                  <a:pt x="2070074" y="0"/>
                </a:lnTo>
                <a:lnTo>
                  <a:pt x="487668" y="3390900"/>
                </a:lnTo>
                <a:lnTo>
                  <a:pt x="0" y="3390900"/>
                </a:lnTo>
                <a:close/>
              </a:path>
            </a:pathLst>
          </a:custGeom>
          <a:solidFill>
            <a:srgbClr val="98F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1971" y="999012"/>
            <a:ext cx="3193615" cy="2879537"/>
          </a:xfrm>
          <a:prstGeom prst="rect">
            <a:avLst/>
          </a:prstGeom>
          <a:noFill/>
        </p:spPr>
        <p:txBody>
          <a:bodyPr wrap="square" lIns="0" rIns="0" tIns="0" bIns="0" anchor="t">
            <a:noAutofit/>
          </a:bodyPr>
          <a:lstStyle/>
          <a:p>
            <a:pPr algn="l">
              <a:lnSpc>
                <a:spcPct val="98000"/>
              </a:lnSpc>
              <a:spcBef>
                <a:spcPts val="0"/>
              </a:spcBef>
              <a:spcAft>
                <a:spcPts val="0"/>
              </a:spcAft>
              <a:defRPr sz="3600" b="1" i="0">
                <a:solidFill>
                  <a:srgbClr val="98F033"/>
                </a:solidFill>
                <a:latin typeface="Arial"/>
              </a:defRPr>
            </a:pPr>
            <a:r>
              <a:t>1.2. Mô hình cộng tác: Làm việc cùng AI</a:t>
            </a:r>
          </a:p>
        </p:txBody>
      </p:sp>
      <p:sp>
        <p:nvSpPr>
          <p:cNvPr id="6" name="TextBox 5"/>
          <p:cNvSpPr txBox="1"/>
          <p:nvPr/>
        </p:nvSpPr>
        <p:spPr>
          <a:xfrm>
            <a:off x="519519" y="3880714"/>
            <a:ext cx="2306059" cy="1794053"/>
          </a:xfrm>
          <a:prstGeom prst="rect">
            <a:avLst/>
          </a:prstGeom>
          <a:noFill/>
        </p:spPr>
        <p:txBody>
          <a:bodyPr wrap="square" lIns="0" rIns="0" tIns="0" bIns="0" anchor="t">
            <a:noAutofit/>
          </a:bodyPr>
          <a:lstStyle/>
          <a:p>
            <a:pPr algn="l">
              <a:lnSpc>
                <a:spcPct val="100000"/>
              </a:lnSpc>
              <a:spcBef>
                <a:spcPts val="0"/>
              </a:spcBef>
              <a:spcAft>
                <a:spcPts val="0"/>
              </a:spcAft>
              <a:defRPr sz="1800" b="0" i="0">
                <a:solidFill>
                  <a:srgbClr val="E0E0E0"/>
                </a:solidFill>
                <a:latin typeface="Arial"/>
              </a:defRPr>
            </a:pPr>
            <a:r>
              <a:rPr sz="1800" b="0" i="0">
                <a:solidFill>
                  <a:srgbClr val="E0E0E0"/>
                </a:solidFill>
                <a:latin typeface="Arial"/>
              </a:rPr>
              <a:t>Thay vì để AI làm thay hoàn toàn, hãy coi AI là một </a:t>
            </a:r>
            <a:r>
              <a:rPr sz="1800" b="0" i="0">
                <a:solidFill>
                  <a:srgbClr val="98F033"/>
                </a:solidFill>
                <a:latin typeface="Arial"/>
              </a:rPr>
              <a:t>'đồng đội tăng lực'</a:t>
            </a:r>
            <a:r>
              <a:rPr sz="1800" b="0" i="0">
                <a:solidFill>
                  <a:srgbClr val="E0E0E0"/>
                </a:solidFill>
                <a:latin typeface="Arial"/>
              </a:rPr>
              <a:t> để tạo ra sự cộng hưởng sức mạnh.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pic>
        <p:nvPicPr>
          <p:cNvPr id="2" name="Picture 1" descr="tmp0ppf952o.png"/>
          <p:cNvPicPr>
            <a:picLocks noChangeAspect="1"/>
          </p:cNvPicPr>
          <p:nvPr/>
        </p:nvPicPr>
        <p:blipFill>
          <a:blip r:embed="rId2"/>
          <a:srcRect l="20279" r="20279"/>
          <a:stretch>
            <a:fillRect/>
          </a:stretch>
        </p:blipFill>
        <p:spPr>
          <a:xfrm>
            <a:off x="8115097" y="0"/>
            <a:ext cx="4076598" cy="6858000"/>
          </a:xfrm>
          <a:prstGeom prst="rect">
            <a:avLst/>
          </a:prstGeom>
        </p:spPr>
      </p:pic>
      <p:sp>
        <p:nvSpPr>
          <p:cNvPr id="3" name="TextBox 2"/>
          <p:cNvSpPr txBox="1"/>
          <p:nvPr/>
        </p:nvSpPr>
        <p:spPr>
          <a:xfrm>
            <a:off x="300220" y="259141"/>
            <a:ext cx="7369880" cy="1644274"/>
          </a:xfrm>
          <a:prstGeom prst="rect">
            <a:avLst/>
          </a:prstGeom>
          <a:noFill/>
        </p:spPr>
        <p:txBody>
          <a:bodyPr wrap="square" lIns="0" rIns="0" tIns="0" bIns="0" anchor="t">
            <a:noAutofit/>
          </a:bodyPr>
          <a:lstStyle/>
          <a:p>
            <a:pPr algn="r">
              <a:lnSpc>
                <a:spcPct val="95000"/>
              </a:lnSpc>
              <a:spcBef>
                <a:spcPts val="0"/>
              </a:spcBef>
              <a:spcAft>
                <a:spcPts val="0"/>
              </a:spcAft>
              <a:defRPr sz="5200" b="1" i="0">
                <a:solidFill>
                  <a:srgbClr val="98F033"/>
                </a:solidFill>
                <a:latin typeface="Arial"/>
              </a:defRPr>
            </a:pPr>
            <a:r>
              <a:t>MÔ HÌNH CỘNG</a:t>
            </a:r>
          </a:p>
          <a:p>
            <a:pPr algn="r">
              <a:lnSpc>
                <a:spcPct val="95000"/>
              </a:lnSpc>
              <a:spcBef>
                <a:spcPts val="0"/>
              </a:spcBef>
              <a:spcAft>
                <a:spcPts val="0"/>
              </a:spcAft>
              <a:defRPr sz="5200" b="1" i="0">
                <a:solidFill>
                  <a:srgbClr val="98F033"/>
                </a:solidFill>
                <a:latin typeface="Arial"/>
              </a:defRPr>
            </a:pPr>
            <a:r>
              <a:t>TÁC AI</a:t>
            </a:r>
          </a:p>
        </p:txBody>
      </p:sp>
      <p:sp>
        <p:nvSpPr>
          <p:cNvPr id="4" name="TextBox 3"/>
          <p:cNvSpPr txBox="1"/>
          <p:nvPr/>
        </p:nvSpPr>
        <p:spPr>
          <a:xfrm>
            <a:off x="300220" y="2063338"/>
            <a:ext cx="7369880" cy="621499"/>
          </a:xfrm>
          <a:prstGeom prst="rect">
            <a:avLst/>
          </a:prstGeom>
          <a:noFill/>
        </p:spPr>
        <p:txBody>
          <a:bodyPr wrap="square" lIns="0" rIns="0" tIns="0" bIns="0" anchor="t">
            <a:noAutofit/>
          </a:bodyPr>
          <a:lstStyle/>
          <a:p>
            <a:pPr algn="r">
              <a:lnSpc>
                <a:spcPct val="98000"/>
              </a:lnSpc>
              <a:spcBef>
                <a:spcPts val="0"/>
              </a:spcBef>
              <a:spcAft>
                <a:spcPts val="0"/>
              </a:spcAft>
              <a:defRPr sz="3800" b="1" i="0">
                <a:solidFill>
                  <a:srgbClr val="98F033"/>
                </a:solidFill>
                <a:latin typeface="Arial"/>
              </a:defRPr>
            </a:pPr>
            <a:r>
              <a:t>Năng lực của AI</a:t>
            </a:r>
          </a:p>
        </p:txBody>
      </p:sp>
      <p:sp>
        <p:nvSpPr>
          <p:cNvPr id="5" name="TextBox 4"/>
          <p:cNvSpPr txBox="1"/>
          <p:nvPr/>
        </p:nvSpPr>
        <p:spPr>
          <a:xfrm>
            <a:off x="300220" y="2702210"/>
            <a:ext cx="7369880" cy="966813"/>
          </a:xfrm>
          <a:prstGeom prst="rect">
            <a:avLst/>
          </a:prstGeom>
          <a:noFill/>
        </p:spPr>
        <p:txBody>
          <a:bodyPr wrap="square" lIns="0" rIns="0" tIns="0" bIns="0" anchor="t">
            <a:noAutofit/>
          </a:bodyPr>
          <a:lstStyle/>
          <a:p>
            <a:pPr algn="r">
              <a:lnSpc>
                <a:spcPct val="108000"/>
              </a:lnSpc>
              <a:spcBef>
                <a:spcPts val="0"/>
              </a:spcBef>
              <a:spcAft>
                <a:spcPts val="0"/>
              </a:spcAft>
              <a:defRPr sz="2700" b="0" i="0">
                <a:solidFill>
                  <a:srgbClr val="E0E0E0"/>
                </a:solidFill>
                <a:latin typeface="Arial"/>
              </a:defRPr>
            </a:pPr>
            <a:r>
              <a:t>Tổng hợp nhanh, sáng tạo vô hạn và</a:t>
            </a:r>
          </a:p>
          <a:p>
            <a:pPr algn="r">
              <a:lnSpc>
                <a:spcPct val="108000"/>
              </a:lnSpc>
              <a:spcBef>
                <a:spcPts val="0"/>
              </a:spcBef>
              <a:spcAft>
                <a:spcPts val="0"/>
              </a:spcAft>
              <a:defRPr sz="2700" b="0" i="0">
                <a:solidFill>
                  <a:srgbClr val="E0E0E0"/>
                </a:solidFill>
                <a:latin typeface="Arial"/>
              </a:defRPr>
            </a:pPr>
            <a:r>
              <a:t>thực hiện tính toán tức thì.</a:t>
            </a:r>
          </a:p>
        </p:txBody>
      </p:sp>
      <p:sp>
        <p:nvSpPr>
          <p:cNvPr id="6" name="TextBox 5"/>
          <p:cNvSpPr txBox="1"/>
          <p:nvPr/>
        </p:nvSpPr>
        <p:spPr>
          <a:xfrm>
            <a:off x="300220" y="3777838"/>
            <a:ext cx="7369880" cy="621499"/>
          </a:xfrm>
          <a:prstGeom prst="rect">
            <a:avLst/>
          </a:prstGeom>
          <a:noFill/>
        </p:spPr>
        <p:txBody>
          <a:bodyPr wrap="square" lIns="0" rIns="0" tIns="0" bIns="0" anchor="t">
            <a:noAutofit/>
          </a:bodyPr>
          <a:lstStyle/>
          <a:p>
            <a:pPr algn="r">
              <a:lnSpc>
                <a:spcPct val="98000"/>
              </a:lnSpc>
              <a:spcBef>
                <a:spcPts val="0"/>
              </a:spcBef>
              <a:spcAft>
                <a:spcPts val="0"/>
              </a:spcAft>
              <a:defRPr sz="3800" b="1" i="0">
                <a:solidFill>
                  <a:srgbClr val="98F033"/>
                </a:solidFill>
                <a:latin typeface="Arial"/>
              </a:defRPr>
            </a:pPr>
            <a:r>
              <a:t>Giá trị Con người</a:t>
            </a:r>
          </a:p>
        </p:txBody>
      </p:sp>
      <p:sp>
        <p:nvSpPr>
          <p:cNvPr id="7" name="TextBox 6"/>
          <p:cNvSpPr txBox="1"/>
          <p:nvPr/>
        </p:nvSpPr>
        <p:spPr>
          <a:xfrm>
            <a:off x="300220" y="4416710"/>
            <a:ext cx="7369880" cy="966813"/>
          </a:xfrm>
          <a:prstGeom prst="rect">
            <a:avLst/>
          </a:prstGeom>
          <a:noFill/>
        </p:spPr>
        <p:txBody>
          <a:bodyPr wrap="square" lIns="0" rIns="0" tIns="0" bIns="0" anchor="t">
            <a:noAutofit/>
          </a:bodyPr>
          <a:lstStyle/>
          <a:p>
            <a:pPr algn="r">
              <a:lnSpc>
                <a:spcPct val="108000"/>
              </a:lnSpc>
              <a:spcBef>
                <a:spcPts val="0"/>
              </a:spcBef>
              <a:spcAft>
                <a:spcPts val="0"/>
              </a:spcAft>
              <a:defRPr sz="2700" b="0" i="0">
                <a:solidFill>
                  <a:srgbClr val="E0E0E0"/>
                </a:solidFill>
                <a:latin typeface="Arial"/>
              </a:defRPr>
            </a:pPr>
            <a:r>
              <a:t>Thấu hiểu bối cảnh, cảm xúc và các</a:t>
            </a:r>
          </a:p>
          <a:p>
            <a:pPr algn="r">
              <a:lnSpc>
                <a:spcPct val="108000"/>
              </a:lnSpc>
              <a:spcBef>
                <a:spcPts val="0"/>
              </a:spcBef>
              <a:spcAft>
                <a:spcPts val="0"/>
              </a:spcAft>
              <a:defRPr sz="2700" b="0" i="0">
                <a:solidFill>
                  <a:srgbClr val="E0E0E0"/>
                </a:solidFill>
                <a:latin typeface="Arial"/>
              </a:defRPr>
            </a:pPr>
            <a:r>
              <a:t>chuẩn mực đạo đức cốt lõi.</a:t>
            </a:r>
          </a:p>
        </p:txBody>
      </p:sp>
      <p:sp>
        <p:nvSpPr>
          <p:cNvPr id="8" name="TextBox 7"/>
          <p:cNvSpPr txBox="1"/>
          <p:nvPr/>
        </p:nvSpPr>
        <p:spPr>
          <a:xfrm>
            <a:off x="300220" y="5492338"/>
            <a:ext cx="7369880" cy="621499"/>
          </a:xfrm>
          <a:prstGeom prst="rect">
            <a:avLst/>
          </a:prstGeom>
          <a:noFill/>
        </p:spPr>
        <p:txBody>
          <a:bodyPr wrap="square" lIns="0" rIns="0" tIns="0" bIns="0" anchor="t">
            <a:noAutofit/>
          </a:bodyPr>
          <a:lstStyle/>
          <a:p>
            <a:pPr algn="r">
              <a:lnSpc>
                <a:spcPct val="98000"/>
              </a:lnSpc>
              <a:spcBef>
                <a:spcPts val="0"/>
              </a:spcBef>
              <a:spcAft>
                <a:spcPts val="0"/>
              </a:spcAft>
              <a:defRPr sz="3800" b="1" i="0">
                <a:solidFill>
                  <a:srgbClr val="98F033"/>
                </a:solidFill>
                <a:latin typeface="Arial"/>
              </a:defRPr>
            </a:pPr>
            <a:r>
              <a:t>Siêu năng lực AI-Người</a:t>
            </a:r>
          </a:p>
        </p:txBody>
      </p:sp>
      <p:sp>
        <p:nvSpPr>
          <p:cNvPr id="9" name="TextBox 8"/>
          <p:cNvSpPr txBox="1"/>
          <p:nvPr/>
        </p:nvSpPr>
        <p:spPr>
          <a:xfrm>
            <a:off x="300220" y="6131210"/>
            <a:ext cx="7369880" cy="726790"/>
          </a:xfrm>
          <a:prstGeom prst="rect">
            <a:avLst/>
          </a:prstGeom>
          <a:noFill/>
        </p:spPr>
        <p:txBody>
          <a:bodyPr wrap="square" lIns="0" rIns="0" tIns="0" bIns="0" anchor="t">
            <a:noAutofit/>
          </a:bodyPr>
          <a:lstStyle/>
          <a:p>
            <a:pPr algn="r">
              <a:lnSpc>
                <a:spcPct val="108000"/>
              </a:lnSpc>
              <a:spcBef>
                <a:spcPts val="0"/>
              </a:spcBef>
              <a:spcAft>
                <a:spcPts val="0"/>
              </a:spcAft>
              <a:defRPr sz="2700" b="0" i="0">
                <a:solidFill>
                  <a:srgbClr val="E0E0E0"/>
                </a:solidFill>
                <a:latin typeface="Arial"/>
              </a:defRPr>
            </a:pPr>
            <a:r>
              <a:rPr sz="2700" b="0" i="0">
                <a:solidFill>
                  <a:srgbClr val="E0E0E0"/>
                </a:solidFill>
                <a:latin typeface="Arial"/>
              </a:rPr>
              <a:t>Công nghệ và bản sắc tạo hiệu quả vượt</a:t>
            </a:r>
          </a:p>
          <a:p>
            <a:pPr algn="r">
              <a:lnSpc>
                <a:spcPct val="108000"/>
              </a:lnSpc>
              <a:spcBef>
                <a:spcPts val="0"/>
              </a:spcBef>
              <a:spcAft>
                <a:spcPts val="0"/>
              </a:spcAft>
              <a:defRPr sz="2700" b="0" i="0">
                <a:solidFill>
                  <a:srgbClr val="E0E0E0"/>
                </a:solidFill>
                <a:latin typeface="Arial"/>
              </a:defRPr>
            </a:pPr>
            <a:r>
              <a:rPr sz="2700" b="0" i="0">
                <a:solidFill>
                  <a:srgbClr val="E0E0E0"/>
                </a:solidFill>
                <a:latin typeface="Arial"/>
              </a:rPr>
              <a:t>trội.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