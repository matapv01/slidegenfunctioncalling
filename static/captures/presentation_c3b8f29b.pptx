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rukjhu5t.jpg"/>
          <p:cNvPicPr>
            <a:picLocks noChangeAspect="1"/>
          </p:cNvPicPr>
          <p:nvPr/>
        </p:nvPicPr>
        <p:blipFill>
          <a:blip r:embed="rId2"/>
          <a:srcRect l="3557" r="355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3q7udsy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709" y="2512192"/>
            <a:ext cx="8717062" cy="7192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222222"/>
                </a:solidFill>
                <a:latin typeface="Arial"/>
              </a:defRPr>
            </a:pPr>
            <a:r>
              <a:t>Ví dụ công thức toán học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5" name="Editable Equation"/>
              <p:cNvSpPr txBox="1"/>
              <p:nvPr/>
            </p:nvSpPr>
            <p:spPr>
              <a:xfrm>
                <a:off x="594345" y="3433420"/>
                <a:ext cx="8991375" cy="1053389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Tài liệu chứa các công thức Equation chỉnh sửa được:&lt;br&gt;1. Cross-Entropy Loss: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>
                    <m:sSub>
                      <m:e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L</m:t>
                        </m:r>
                      </m:e>
                      <m:sub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E</m:t>
                        </m:r>
                      </m:sub>
                    </m:sSub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=</m:t>
                    </m:r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-</m:t>
                    </m:r>
                    <m:nary>
                      <m:naryPr>
                        <m:chr val="∑"/>
                      </m:naryPr>
                      <m:sub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i</m:t>
                        </m:r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=</m:t>
                        </m:r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1</m:t>
                        </m:r>
                      </m:sub>
                      <m:sup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C</m:t>
                        </m:r>
                      </m:sup>
                      <m:e/>
                    </m:nary>
                    <m:sSub>
                      <m:e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y</m:t>
                        </m:r>
                      </m:e>
                      <m:sub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i</m:t>
                        </m:r>
                      </m:sub>
                    </m:sSub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log</m:t>
                    </m:r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(</m:t>
                    </m:r>
                    <m:sSub>
                      <m:e>
                        <m:acc>
                          <m:accPr>
                            <m:chr val="^"/>
                          </m:accPr>
                          <m:e>
                            <m:r>
                              <a:rPr sz="1550">
                                <a:latin typeface="Cambria Math"/>
                                <a:solidFill>
                                  <a:srgbClr val="333333"/>
                                </a:solidFill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i</m:t>
                        </m:r>
                      </m:sub>
                    </m:sSub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)</m:t>
                    </m:r>
                  </m:oMath>
                </a14:m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&lt;br&gt;2. Mean Squared Error: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M</m:t>
                    </m:r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S</m:t>
                    </m:r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E</m:t>
                    </m:r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=</m:t>
                    </m:r>
                    <m:f>
                      <m:e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1</m:t>
                        </m:r>
                      </m:e>
                      <m:e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n</m:t>
                        </m:r>
                      </m:e>
                    </m:f>
                    <m:nary>
                      <m:naryPr>
                        <m:chr val="∑"/>
                      </m:naryPr>
                      <m:sub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i</m:t>
                        </m:r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=</m:t>
                        </m:r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1</m:t>
                        </m:r>
                      </m:sub>
                      <m:sup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n</m:t>
                        </m:r>
                      </m:sup>
                      <m:e/>
                    </m:nary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(</m:t>
                    </m:r>
                    <m:sSub>
                      <m:e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y</m:t>
                        </m:r>
                      </m:e>
                      <m:sub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i</m:t>
                        </m:r>
                      </m:sub>
                    </m:sSub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-</m:t>
                    </m:r>
                    <m:sSub>
                      <m:e>
                        <m:acc>
                          <m:accPr>
                            <m:chr val="^"/>
                          </m:accPr>
                          <m:e>
                            <m:r>
                              <a:rPr sz="1550">
                                <a:latin typeface="Cambria Math"/>
                                <a:solidFill>
                                  <a:srgbClr val="333333"/>
                                </a:solidFill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i</m:t>
                        </m:r>
                      </m:sub>
                    </m:sSub>
                    <m:sSup>
                      <m:e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)</m:t>
                        </m:r>
                      </m:e>
                      <m:sup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2</m:t>
                        </m:r>
                      </m:sup>
                    </m:sSup>
                  </m:oMath>
                </a14:m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&lt;br&gt;3. Einstein Energy: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E</m:t>
                    </m:r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=</m:t>
                    </m:r>
                    <m:r>
                      <a:rPr sz="1550">
                        <a:latin typeface="Cambria Math"/>
                        <a:solidFill>
                          <a:srgbClr val="333333"/>
                        </a:solidFill>
                      </a:rPr>
                      <m:t>m</m:t>
                    </m:r>
                    <m:sSup>
                      <m:e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c</m:t>
                        </m:r>
                      </m:e>
                      <m:sup>
                        <m:r>
                          <a:rPr sz="1550">
                            <a:latin typeface="Cambria Math"/>
                            <a:solidFill>
                              <a:srgbClr val="333333"/>
                            </a:solidFill>
                          </a:rPr>
                          <m:t>2</m:t>
                        </m:r>
                      </m:sup>
                    </m:sSup>
                  </m:oMath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6" name="Picture 5" descr="tmptof6ryhi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345" y="3433420"/>
                <a:ext cx="8991375" cy="105338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1m1ybag1.jpg"/>
          <p:cNvPicPr>
            <a:picLocks noChangeAspect="1"/>
          </p:cNvPicPr>
          <p:nvPr/>
        </p:nvPicPr>
        <p:blipFill>
          <a:blip r:embed="rId2"/>
          <a:srcRect t="5356" b="535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5791055" cy="6858000"/>
          </a:xfrm>
          <a:custGeom>
            <a:avLst/>
            <a:gdLst/>
            <a:ahLst/>
            <a:cxnLst/>
            <a:rect l="l" t="t" r="r" b="b"/>
            <a:pathLst>
              <a:path w="5791055" h="6858000">
                <a:moveTo>
                  <a:pt x="0" y="0"/>
                </a:moveTo>
                <a:lnTo>
                  <a:pt x="5791055" y="0"/>
                </a:lnTo>
                <a:lnTo>
                  <a:pt x="25907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986965" y="2095500"/>
            <a:ext cx="2070074" cy="3390900"/>
          </a:xfrm>
          <a:custGeom>
            <a:avLst/>
            <a:gdLst/>
            <a:ahLst/>
            <a:cxnLst/>
            <a:rect l="l" t="t" r="r" b="b"/>
            <a:pathLst>
              <a:path w="2070074" h="3390900">
                <a:moveTo>
                  <a:pt x="1582406" y="0"/>
                </a:moveTo>
                <a:lnTo>
                  <a:pt x="2070074" y="0"/>
                </a:lnTo>
                <a:lnTo>
                  <a:pt x="487668" y="3390900"/>
                </a:lnTo>
                <a:lnTo>
                  <a:pt x="0" y="33909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655" y="1746507"/>
            <a:ext cx="3366059" cy="17343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5" y="3594506"/>
            <a:ext cx="2574656" cy="14977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rPr sz="1800" b="0" i="0">
                <a:solidFill>
                  <a:srgbClr val="333333"/>
                </a:solidFill>
                <a:latin typeface="Arial"/>
              </a:rPr>
              <a:t>Tài liệu cung cấp các công thức </a:t>
            </a:r>
            <a:r>
              <a:rPr sz="1800" b="0" i="0">
                <a:solidFill>
                  <a:srgbClr val="2E7D32"/>
                </a:solidFill>
                <a:latin typeface="Arial"/>
              </a:rPr>
              <a:t>Equation</a:t>
            </a:r>
            <a:r>
              <a:rPr sz="1800" b="0" i="0">
                <a:solidFill>
                  <a:srgbClr val="333333"/>
                </a:solidFill>
                <a:latin typeface="Arial"/>
              </a:rPr>
              <a:t> chỉnh sửa được trong Word, không dùng mã LaTeX.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377" y="-800100"/>
            <a:ext cx="3515272" cy="43815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" name="Editable Equation"/>
              <p:cNvSpPr txBox="1"/>
              <p:nvPr/>
            </p:nvSpPr>
            <p:spPr>
              <a:xfrm>
                <a:off x="1265904" y="695935"/>
                <a:ext cx="2812218" cy="1652321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Cross-Entropy Loss&lt;br&gt;&lt;br&gt;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>
                    <m:sSub>
                      <m:e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L</m:t>
                        </m:r>
                      </m:e>
                      <m:sub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C</m:t>
                        </m:r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E</m:t>
                        </m:r>
                      </m:sub>
                    </m:sSub>
                    <m:r>
                      <a:rPr sz="1100">
                        <a:latin typeface="Cambria Math"/>
                        <a:solidFill>
                          <a:srgbClr val="222222"/>
                        </a:solidFill>
                      </a:rPr>
                      <m:t>=</m:t>
                    </m:r>
                    <m:r>
                      <a:rPr sz="1100">
                        <a:latin typeface="Cambria Math"/>
                        <a:solidFill>
                          <a:srgbClr val="222222"/>
                        </a:solidFill>
                      </a:rPr>
                      <m:t>-</m:t>
                    </m:r>
                    <m:nary>
                      <m:naryPr>
                        <m:chr val="∑"/>
                      </m:naryPr>
                      <m:e/>
                    </m:nary>
                    <m:sSub>
                      <m:e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y</m:t>
                        </m:r>
                      </m:e>
                      <m:sub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i</m:t>
                        </m:r>
                      </m:sub>
                    </m:sSub>
                    <m:r>
                      <a:rPr sz="1100">
                        <a:latin typeface="Cambria Math"/>
                        <a:solidFill>
                          <a:srgbClr val="222222"/>
                        </a:solidFill>
                      </a:rPr>
                      <m:t>log</m:t>
                    </m:r>
                    <m:r>
                      <a:rPr sz="1100">
                        <a:latin typeface="Cambria Math"/>
                        <a:solidFill>
                          <a:srgbClr val="222222"/>
                        </a:solidFill>
                      </a:rPr>
                      <m:t>(</m:t>
                    </m:r>
                    <m:sSub>
                      <m:e>
                        <m:acc>
                          <m:accPr>
                            <m:chr val="^"/>
                          </m:accPr>
                          <m:e>
                            <m:r>
                              <a:rPr sz="1100">
                                <a:latin typeface="Cambria Math"/>
                                <a:solidFill>
                                  <a:srgbClr val="222222"/>
                                </a:solidFill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i</m:t>
                        </m:r>
                      </m:sub>
                    </m:sSub>
                    <m:r>
                      <a:rPr sz="1100">
                        <a:latin typeface="Cambria Math"/>
                        <a:solidFill>
                          <a:srgbClr val="222222"/>
                        </a:solidFill>
                      </a:rPr>
                      <m:t>)</m:t>
                    </m:r>
                  </m:oMath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&lt;br&gt;&lt;br&gt;Thành phần: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>
                    <m:r>
                      <a:rPr sz="1100">
                        <a:latin typeface="Cambria Math"/>
                        <a:solidFill>
                          <a:srgbClr val="222222"/>
                        </a:solidFill>
                      </a:rPr>
                      <m:t>C</m:t>
                    </m:r>
                  </m:oMath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(số lớp),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>
                    <m:sSub>
                      <m:e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y</m:t>
                        </m:r>
                      </m:e>
                      <m:sub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i</m:t>
                        </m:r>
                      </m:sub>
                    </m:sSub>
                  </m:oMath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(nhãn thật),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>
                    <m:sSub>
                      <m:e>
                        <m:acc>
                          <m:accPr>
                            <m:chr val="^"/>
                          </m:accPr>
                          <m:e>
                            <m:r>
                              <a:rPr sz="1100">
                                <a:latin typeface="Cambria Math"/>
                                <a:solidFill>
                                  <a:srgbClr val="222222"/>
                                </a:solidFill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sz="1100">
                            <a:latin typeface="Cambria Math"/>
                            <a:solidFill>
                              <a:srgbClr val="222222"/>
                            </a:solidFill>
                          </a:rPr>
                          <m:t>i</m:t>
                        </m:r>
                      </m:sub>
                    </m:sSub>
                  </m:oMath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(xác suất dự đoán).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4" name="Picture 3" descr="tmp89xlfqks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65904" y="695935"/>
                <a:ext cx="2812218" cy="1652321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ounded Rectangle 4"/>
          <p:cNvSpPr/>
          <p:nvPr/>
        </p:nvSpPr>
        <p:spPr>
          <a:xfrm>
            <a:off x="4643004" y="-708660"/>
            <a:ext cx="3515272" cy="48234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6" name="Editable Equation"/>
              <p:cNvSpPr txBox="1"/>
              <p:nvPr/>
            </p:nvSpPr>
            <p:spPr>
              <a:xfrm>
                <a:off x="4994531" y="972236"/>
                <a:ext cx="2812218" cy="1751076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Mean Squared Error (MSE)&lt;br&gt;&lt;br&gt;</a:t>
                </a:r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>
                    <m:r>
                      <a:rPr sz="1500">
                        <a:latin typeface="Cambria Math"/>
                        <a:solidFill>
                          <a:srgbClr val="222222"/>
                        </a:solidFill>
                      </a:rPr>
                      <m:t>M</m:t>
                    </m:r>
                    <m:r>
                      <a:rPr sz="1500">
                        <a:latin typeface="Cambria Math"/>
                        <a:solidFill>
                          <a:srgbClr val="222222"/>
                        </a:solidFill>
                      </a:rPr>
                      <m:t>S</m:t>
                    </m:r>
                    <m:r>
                      <a:rPr sz="1500">
                        <a:latin typeface="Cambria Math"/>
                        <a:solidFill>
                          <a:srgbClr val="222222"/>
                        </a:solidFill>
                      </a:rPr>
                      <m:t>E</m:t>
                    </m:r>
                    <m:r>
                      <a:rPr sz="1500">
                        <a:latin typeface="Cambria Math"/>
                        <a:solidFill>
                          <a:srgbClr val="222222"/>
                        </a:solidFill>
                      </a:rPr>
                      <m:t>=</m:t>
                    </m:r>
                    <m:f>
                      <m:e>
                        <m:r>
                          <a:rPr sz="1500">
                            <a:latin typeface="Cambria Math"/>
                            <a:solidFill>
                              <a:srgbClr val="222222"/>
                            </a:solidFill>
                          </a:rPr>
                          <m:t>1</m:t>
                        </m:r>
                      </m:e>
                      <m:e>
                        <m:r>
                          <a:rPr sz="1500">
                            <a:latin typeface="Cambria Math"/>
                            <a:solidFill>
                              <a:srgbClr val="222222"/>
                            </a:solidFill>
                          </a:rPr>
                          <m:t>n</m:t>
                        </m:r>
                      </m:e>
                    </m:f>
                    <m:nary>
                      <m:naryPr>
                        <m:chr val="∑"/>
                      </m:naryPr>
                      <m:e/>
                    </m:nary>
                    <m:r>
                      <a:rPr sz="1500">
                        <a:latin typeface="Cambria Math"/>
                        <a:solidFill>
                          <a:srgbClr val="222222"/>
                        </a:solidFill>
                      </a:rPr>
                      <m:t>(</m:t>
                    </m:r>
                    <m:sSub>
                      <m:e>
                        <m:r>
                          <a:rPr sz="1500">
                            <a:latin typeface="Cambria Math"/>
                            <a:solidFill>
                              <a:srgbClr val="222222"/>
                            </a:solidFill>
                          </a:rPr>
                          <m:t>y</m:t>
                        </m:r>
                      </m:e>
                      <m:sub>
                        <m:r>
                          <a:rPr sz="1500">
                            <a:latin typeface="Cambria Math"/>
                            <a:solidFill>
                              <a:srgbClr val="222222"/>
                            </a:solidFill>
                          </a:rPr>
                          <m:t>i</m:t>
                        </m:r>
                      </m:sub>
                    </m:sSub>
                    <m:r>
                      <a:rPr sz="1500">
                        <a:latin typeface="Cambria Math"/>
                        <a:solidFill>
                          <a:srgbClr val="222222"/>
                        </a:solidFill>
                      </a:rPr>
                      <m:t>-</m:t>
                    </m:r>
                    <m:sSub>
                      <m:e>
                        <m:acc>
                          <m:accPr>
                            <m:chr val="^"/>
                          </m:accPr>
                          <m:e>
                            <m:r>
                              <a:rPr sz="1500">
                                <a:latin typeface="Cambria Math"/>
                                <a:solidFill>
                                  <a:srgbClr val="222222"/>
                                </a:solidFill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a:rPr sz="1500">
                            <a:latin typeface="Cambria Math"/>
                            <a:solidFill>
                              <a:srgbClr val="222222"/>
                            </a:solidFill>
                          </a:rPr>
                          <m:t>i</m:t>
                        </m:r>
                      </m:sub>
                    </m:sSub>
                    <m:sSup>
                      <m:e>
                        <m:r>
                          <a:rPr sz="1500">
                            <a:latin typeface="Cambria Math"/>
                            <a:solidFill>
                              <a:srgbClr val="222222"/>
                            </a:solidFill>
                          </a:rPr>
                          <m:t>)</m:t>
                        </m:r>
                      </m:e>
                      <m:sup>
                        <m:r>
                          <a:rPr sz="1500">
                            <a:latin typeface="Cambria Math"/>
                            <a:solidFill>
                              <a:srgbClr val="222222"/>
                            </a:solidFill>
                          </a:rPr>
                          <m:t>2</m:t>
                        </m:r>
                      </m:sup>
                    </m:sSup>
                  </m:oMath>
                </a14:m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&lt;br&gt;&lt;br&gt;Mục đích: Đo lường sai số bình phương trung bình giữa giá trị thực tế và giá trị dự đoán.</a:t>
                </a:r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7" name="Picture 6" descr="tmp8uartopa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4531" y="972236"/>
                <a:ext cx="2812218" cy="175107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ounded Rectangle 7"/>
          <p:cNvSpPr/>
          <p:nvPr/>
        </p:nvSpPr>
        <p:spPr>
          <a:xfrm>
            <a:off x="8371631" y="-617220"/>
            <a:ext cx="3515272" cy="53416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9" name="Editable Equation"/>
              <p:cNvSpPr txBox="1"/>
              <p:nvPr/>
            </p:nvSpPr>
            <p:spPr>
              <a:xfrm>
                <a:off x="8723158" y="1424711"/>
                <a:ext cx="2812218" cy="1578254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Einstein Energy&lt;br&gt;&lt;br&gt;</a:t>
                </a:r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>
                    <m:r>
                      <a:rPr sz="1350">
                        <a:latin typeface="Cambria Math"/>
                        <a:solidFill>
                          <a:srgbClr val="222222"/>
                        </a:solidFill>
                      </a:rPr>
                      <m:t>E</m:t>
                    </m:r>
                    <m:r>
                      <a:rPr sz="1350">
                        <a:latin typeface="Cambria Math"/>
                        <a:solidFill>
                          <a:srgbClr val="222222"/>
                        </a:solidFill>
                      </a:rPr>
                      <m:t>=</m:t>
                    </m:r>
                    <m:r>
                      <a:rPr sz="1350">
                        <a:latin typeface="Cambria Math"/>
                        <a:solidFill>
                          <a:srgbClr val="222222"/>
                        </a:solidFill>
                      </a:rPr>
                      <m:t>m</m:t>
                    </m:r>
                    <m:sSup>
                      <m:e>
                        <m:r>
                          <a:rPr sz="1350">
                            <a:latin typeface="Cambria Math"/>
                            <a:solidFill>
                              <a:srgbClr val="222222"/>
                            </a:solidFill>
                          </a:rPr>
                          <m:t>c</m:t>
                        </m:r>
                      </m:e>
                      <m:sup>
                        <m:r>
                          <a:rPr sz="1350">
                            <a:latin typeface="Cambria Math"/>
                            <a:solidFill>
                              <a:srgbClr val="222222"/>
                            </a:solidFill>
                          </a:rPr>
                          <m:t>2</m:t>
                        </m:r>
                      </m:sup>
                    </m:sSup>
                  </m:oMath>
                </a14:m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&lt;br&gt;&lt;br&gt;Công thức nổi tiếng của Albert Einstein mô tả mối quan hệ tương đương giữa khối lượng và năng lượng.</a:t>
                </a:r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10" name="Picture 9" descr="tmpebp534w5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158" y="1424711"/>
                <a:ext cx="2812218" cy="157825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0" y="4623252"/>
            <a:ext cx="8717062" cy="6735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25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46549"/>
            <a:ext cx="8717062" cy="864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222222"/>
                </a:solidFill>
                <a:latin typeface="Arial"/>
              </a:defRPr>
            </a:pPr>
            <a:r>
              <a:t>Tổng hợp một số công thức toán học quan trọng thường gặp trong lĩnh vực trí tuệ nhân tạo và vật lý học hiện đại.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