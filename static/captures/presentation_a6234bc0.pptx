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a8vjp0fm.png"/>
          <p:cNvPicPr>
            <a:picLocks noChangeAspect="1"/>
          </p:cNvPicPr>
          <p:nvPr/>
        </p:nvPicPr>
        <p:blipFill>
          <a:blip r:embed="rId2"/>
          <a:srcRect t="780" b="780"/>
          <a:stretch>
            <a:fillRect/>
          </a:stretch>
        </p:blipFill>
        <p:spPr>
          <a:xfrm>
            <a:off x="0" y="0"/>
            <a:ext cx="12191695" cy="6858000"/>
          </a:xfrm>
          <a:prstGeom prst="rect">
            <a:avLst/>
          </a:prstGeom>
        </p:spPr>
      </p:pic>
      <p:pic>
        <p:nvPicPr>
          <p:cNvPr id="3" name="Picture 2" descr="tmp8vk5tfgr.png"/>
          <p:cNvPicPr>
            <a:picLocks noChangeAspect="1"/>
          </p:cNvPicPr>
          <p:nvPr/>
        </p:nvPicPr>
        <p:blipFill>
          <a:blip r:embed="rId3"/>
          <a:stretch>
            <a:fillRect/>
          </a:stretch>
        </p:blipFill>
        <p:spPr>
          <a:xfrm>
            <a:off x="0" y="0"/>
            <a:ext cx="12191695" cy="6858000"/>
          </a:xfrm>
          <a:prstGeom prst="rect">
            <a:avLst/>
          </a:prstGeom>
        </p:spPr>
      </p:pic>
      <p:sp>
        <p:nvSpPr>
          <p:cNvPr id="4" name="TextBox 3"/>
          <p:cNvSpPr txBox="1"/>
          <p:nvPr/>
        </p:nvSpPr>
        <p:spPr>
          <a:xfrm>
            <a:off x="426709" y="1684569"/>
            <a:ext cx="8717062" cy="1219627"/>
          </a:xfrm>
          <a:prstGeom prst="rect">
            <a:avLst/>
          </a:prstGeom>
          <a:noFill/>
        </p:spPr>
        <p:txBody>
          <a:bodyPr wrap="square" lIns="0" rIns="0" tIns="0" bIns="0" anchor="ctr">
            <a:noAutofit/>
          </a:bodyPr>
          <a:lstStyle/>
          <a:p>
            <a:pPr algn="l">
              <a:lnSpc>
                <a:spcPct val="95000"/>
              </a:lnSpc>
              <a:spcBef>
                <a:spcPts val="0"/>
              </a:spcBef>
              <a:spcAft>
                <a:spcPts val="0"/>
              </a:spcAft>
              <a:defRPr sz="3950" b="1" i="0">
                <a:solidFill>
                  <a:srgbClr val="333333"/>
                </a:solidFill>
                <a:latin typeface="Arial"/>
              </a:defRPr>
            </a:pPr>
            <a:r>
              <a:t>BÁO CÁO CÔNG VIỆC HẰNG TUẦN</a:t>
            </a:r>
          </a:p>
        </p:txBody>
      </p:sp>
      <p:sp>
        <p:nvSpPr>
          <p:cNvPr id="5" name="TextBox 4"/>
          <p:cNvSpPr txBox="1"/>
          <p:nvPr/>
        </p:nvSpPr>
        <p:spPr>
          <a:xfrm>
            <a:off x="450178" y="2592324"/>
            <a:ext cx="9477824" cy="2839212"/>
          </a:xfrm>
          <a:prstGeom prst="rect">
            <a:avLst/>
          </a:prstGeom>
          <a:noFill/>
        </p:spPr>
        <p:txBody>
          <a:bodyPr wrap="square" lIns="0" rIns="0" tIns="0" bIns="0" anchor="t">
            <a:noAutofit/>
          </a:bodyPr>
          <a:lstStyle/>
          <a:p>
            <a:pPr algn="l">
              <a:lnSpc>
                <a:spcPct val="108000"/>
              </a:lnSpc>
              <a:spcBef>
                <a:spcPts val="0"/>
              </a:spcBef>
              <a:spcAft>
                <a:spcPts val="0"/>
              </a:spcAft>
              <a:defRPr sz="1850" b="0" i="0">
                <a:solidFill>
                  <a:srgbClr val="333333"/>
                </a:solidFill>
                <a:latin typeface="Arial"/>
              </a:defRPr>
            </a:pPr>
            <a:r>
              <a:rPr sz="1850" b="0" i="0">
                <a:solidFill>
                  <a:srgbClr val="007BFF"/>
                </a:solidFill>
                <a:latin typeface="Arial"/>
              </a:rPr>
              <a:t>NHẬT KÝ THỰC TẬP TUẦN 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Kiểm thử quy trình nghiệp vụ và hoàn thiện tài liệu trình bày KPI Copilot</a:t>
            </a:r>
          </a:p>
          <a:p>
            <a:pPr algn="l">
              <a:lnSpc>
                <a:spcPct val="108000"/>
              </a:lnSpc>
              <a:spcBef>
                <a:spcPts val="0"/>
              </a:spcBef>
              <a:spcAft>
                <a:spcPts val="0"/>
              </a:spcAft>
              <a:defRPr sz="1850" b="0" i="0">
                <a:solidFill>
                  <a:srgbClr val="333333"/>
                </a:solidFill>
                <a:latin typeface="Arial"/>
              </a:defRPr>
            </a:pP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Họ và tên: Nguyễn Thành Nam - B22DCKH080</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Lớp: D22CQKH02-B</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Đơn vị: Công ty cổ phần TinaSoft</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Thời gian: 03/08/2026 - 09/08/2026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Hạn nộp: 11/08/2026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f_hoe2fm.jpg"/>
          <p:cNvPicPr>
            <a:picLocks noChangeAspect="1"/>
          </p:cNvPicPr>
          <p:nvPr/>
        </p:nvPicPr>
        <p:blipFill>
          <a:blip r:embed="rId2"/>
          <a:srcRect l="4512" r="4512"/>
          <a:stretch>
            <a:fillRect/>
          </a:stretch>
        </p:blipFill>
        <p:spPr>
          <a:xfrm>
            <a:off x="548626" y="624840"/>
            <a:ext cx="4724282" cy="5608320"/>
          </a:xfrm>
          <a:prstGeom prst="rect">
            <a:avLst/>
          </a:prstGeom>
        </p:spPr>
      </p:pic>
      <p:sp>
        <p:nvSpPr>
          <p:cNvPr id="4" name="Rectangle 3"/>
          <p:cNvSpPr/>
          <p:nvPr/>
        </p:nvSpPr>
        <p:spPr>
          <a:xfrm>
            <a:off x="5699617" y="624840"/>
            <a:ext cx="5516742" cy="5608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28212"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650"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838" y="1108558"/>
            <a:ext cx="3962301" cy="362102"/>
          </a:xfrm>
          <a:prstGeom prst="rect">
            <a:avLst/>
          </a:prstGeom>
          <a:noFill/>
        </p:spPr>
        <p:txBody>
          <a:bodyPr wrap="square" lIns="0" rIns="0" tIns="0" bIns="0" anchor="ctr">
            <a:noAutofit/>
          </a:bodyPr>
          <a:lstStyle/>
          <a:p>
            <a:pPr algn="ctr">
              <a:lnSpc>
                <a:spcPct val="100000"/>
              </a:lnSpc>
              <a:spcBef>
                <a:spcPts val="0"/>
              </a:spcBef>
              <a:spcAft>
                <a:spcPts val="0"/>
              </a:spcAft>
              <a:defRPr sz="2200" b="0" i="0">
                <a:solidFill>
                  <a:srgbClr val="007BFF"/>
                </a:solidFill>
                <a:latin typeface="Times New Roman"/>
              </a:defRPr>
            </a:pPr>
            <a:r>
              <a:t>BÁO CÁO THỰC TẬP</a:t>
            </a:r>
          </a:p>
        </p:txBody>
      </p:sp>
      <p:sp>
        <p:nvSpPr>
          <p:cNvPr id="8" name="TextBox 7"/>
          <p:cNvSpPr txBox="1"/>
          <p:nvPr/>
        </p:nvSpPr>
        <p:spPr>
          <a:xfrm>
            <a:off x="6476838" y="1665293"/>
            <a:ext cx="3962301" cy="1377964"/>
          </a:xfrm>
          <a:prstGeom prst="rect">
            <a:avLst/>
          </a:prstGeom>
          <a:noFill/>
        </p:spPr>
        <p:txBody>
          <a:bodyPr wrap="square" lIns="0" rIns="0" tIns="0" bIns="0" anchor="ctr">
            <a:noAutofit/>
          </a:bodyPr>
          <a:lstStyle/>
          <a:p>
            <a:pPr algn="ctr">
              <a:lnSpc>
                <a:spcPct val="92000"/>
              </a:lnSpc>
              <a:spcBef>
                <a:spcPts val="0"/>
              </a:spcBef>
              <a:spcAft>
                <a:spcPts val="0"/>
              </a:spcAft>
              <a:defRPr sz="4600" b="0" i="1">
                <a:solidFill>
                  <a:srgbClr val="333333"/>
                </a:solidFill>
                <a:latin typeface="Times New Roman"/>
              </a:defRPr>
            </a:pPr>
            <a:r>
              <a:t>1. Mục tiêu tuần</a:t>
            </a:r>
          </a:p>
        </p:txBody>
      </p:sp>
      <p:sp>
        <p:nvSpPr>
          <p:cNvPr id="9" name="TextBox 8"/>
          <p:cNvSpPr txBox="1"/>
          <p:nvPr/>
        </p:nvSpPr>
        <p:spPr>
          <a:xfrm>
            <a:off x="6476838" y="3215311"/>
            <a:ext cx="3962301" cy="2617671"/>
          </a:xfrm>
          <a:prstGeom prst="rect">
            <a:avLst/>
          </a:prstGeom>
          <a:noFill/>
        </p:spPr>
        <p:txBody>
          <a:bodyPr wrap="square" lIns="0" rIns="0" tIns="0" bIns="0" anchor="t">
            <a:noAutofit/>
          </a:bodyPr>
          <a:lstStyle/>
          <a:p>
            <a:pPr algn="ctr">
              <a:lnSpc>
                <a:spcPct val="142000"/>
              </a:lnSpc>
              <a:spcBef>
                <a:spcPts val="0"/>
              </a:spcBef>
              <a:spcAft>
                <a:spcPts val="0"/>
              </a:spcAft>
              <a:defRPr sz="1550" b="0" i="0">
                <a:solidFill>
                  <a:srgbClr val="333333"/>
                </a:solidFill>
                <a:latin typeface="Arial"/>
              </a:defRPr>
            </a:pPr>
            <a:r>
              <a:t>Mục tiêu chính: Kiểm thử toàn bộ quy trình nghiệp vụ của AI KPI Copilot từ giao nhiệm vụ đến tổng hợp báo cáo, đánh giá tính hợp lý của kết quả AI, hoàn thiện nội dung trình bày sản phẩm và chuẩn bị minh chứng phục vụ báo cáo tiến độ.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dbq217um.jpg"/>
          <p:cNvPicPr>
            <a:picLocks noChangeAspect="1"/>
          </p:cNvPicPr>
          <p:nvPr/>
        </p:nvPicPr>
        <p:blipFill>
          <a:blip r:embed="rId2"/>
          <a:srcRect l="179" r="179"/>
          <a:stretch>
            <a:fillRect/>
          </a:stretch>
        </p:blipFill>
        <p:spPr>
          <a:xfrm>
            <a:off x="0" y="0"/>
            <a:ext cx="12191695" cy="6858000"/>
          </a:xfrm>
          <a:prstGeom prst="rect">
            <a:avLst/>
          </a:prstGeom>
        </p:spPr>
      </p:pic>
      <p:sp>
        <p:nvSpPr>
          <p:cNvPr id="3" name="Freeform 2"/>
          <p:cNvSpPr/>
          <p:nvPr/>
        </p:nvSpPr>
        <p:spPr>
          <a:xfrm>
            <a:off x="0" y="0"/>
            <a:ext cx="8496087" cy="6858000"/>
          </a:xfrm>
          <a:custGeom>
            <a:avLst/>
            <a:gdLst/>
            <a:ahLst/>
            <a:cxnLst/>
            <a:rect l="l" t="t" r="r" b="b"/>
            <a:pathLst>
              <a:path w="8496087" h="6858000">
                <a:moveTo>
                  <a:pt x="0" y="0"/>
                </a:moveTo>
                <a:lnTo>
                  <a:pt x="8496087" y="0"/>
                </a:lnTo>
                <a:lnTo>
                  <a:pt x="5791055"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502060" y="2171700"/>
            <a:ext cx="1343143" cy="2362200"/>
          </a:xfrm>
          <a:custGeom>
            <a:avLst/>
            <a:gdLst/>
            <a:ahLst/>
            <a:cxnLst/>
            <a:rect l="l" t="t" r="r" b="b"/>
            <a:pathLst>
              <a:path w="1343143" h="2362200">
                <a:moveTo>
                  <a:pt x="931674" y="0"/>
                </a:moveTo>
                <a:lnTo>
                  <a:pt x="1343143" y="0"/>
                </a:lnTo>
                <a:lnTo>
                  <a:pt x="411469" y="2362200"/>
                </a:lnTo>
                <a:lnTo>
                  <a:pt x="0" y="23622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9511" y="504944"/>
            <a:ext cx="7184155" cy="768315"/>
          </a:xfrm>
          <a:prstGeom prst="rect">
            <a:avLst/>
          </a:prstGeom>
          <a:noFill/>
        </p:spPr>
        <p:txBody>
          <a:bodyPr wrap="square" lIns="0" rIns="0" tIns="0" bIns="0" anchor="t">
            <a:noAutofit/>
          </a:bodyPr>
          <a:lstStyle/>
          <a:p>
            <a:pPr algn="l">
              <a:lnSpc>
                <a:spcPct val="96000"/>
              </a:lnSpc>
              <a:spcBef>
                <a:spcPts val="0"/>
              </a:spcBef>
              <a:spcAft>
                <a:spcPts val="0"/>
              </a:spcAft>
              <a:defRPr sz="4600" b="0" i="0">
                <a:solidFill>
                  <a:srgbClr val="007BFF"/>
                </a:solidFill>
                <a:latin typeface="Arial"/>
              </a:defRPr>
            </a:pPr>
            <a:r>
              <a:t>2. Kết quả nổi bật</a:t>
            </a:r>
          </a:p>
        </p:txBody>
      </p:sp>
      <p:sp>
        <p:nvSpPr>
          <p:cNvPr id="6" name="TextBox 5"/>
          <p:cNvSpPr txBox="1"/>
          <p:nvPr/>
        </p:nvSpPr>
        <p:spPr>
          <a:xfrm>
            <a:off x="43432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Quy trình &amp; Phân tích</a:t>
            </a:r>
          </a:p>
        </p:txBody>
      </p:sp>
      <p:sp>
        <p:nvSpPr>
          <p:cNvPr id="7" name="TextBox 6"/>
          <p:cNvSpPr txBox="1"/>
          <p:nvPr/>
        </p:nvSpPr>
        <p:spPr>
          <a:xfrm>
            <a:off x="434329" y="2586130"/>
            <a:ext cx="2773611" cy="382939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Luồng nghiệp vụ:</a:t>
            </a:r>
            <a:r>
              <a:rPr sz="2000" b="0" i="0">
                <a:solidFill>
                  <a:srgbClr val="333333"/>
                </a:solidFill>
                <a:latin typeface="Arial"/>
              </a:rPr>
              <a:t> Rà soát quy trình giao việc, thực hiện, AI phân tích, dashboard và báo cáo.</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Phân tích minh chứng: Kiểm tra đối chiếu tài liệu với yêu cầu và giải thích kết quả AI.</a:t>
            </a:r>
          </a:p>
        </p:txBody>
      </p:sp>
      <p:sp>
        <p:nvSpPr>
          <p:cNvPr id="8" name="TextBox 7"/>
          <p:cNvSpPr txBox="1"/>
          <p:nvPr/>
        </p:nvSpPr>
        <p:spPr>
          <a:xfrm>
            <a:off x="364988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KPI &amp; Trình bày</a:t>
            </a:r>
          </a:p>
        </p:txBody>
      </p:sp>
      <p:sp>
        <p:nvSpPr>
          <p:cNvPr id="9" name="TextBox 8"/>
          <p:cNvSpPr txBox="1"/>
          <p:nvPr/>
        </p:nvSpPr>
        <p:spPr>
          <a:xfrm>
            <a:off x="3649889" y="2598969"/>
            <a:ext cx="2773611" cy="348276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Minh bạch KPI:</a:t>
            </a:r>
            <a:r>
              <a:rPr sz="2000" b="0" i="0">
                <a:solidFill>
                  <a:srgbClr val="333333"/>
                </a:solidFill>
                <a:latin typeface="Arial"/>
              </a:rPr>
              <a:t> Làm rõ vai trò của trọng số và kết quả phân tích AI trong điểm KPI.</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Trình bày sản phẩm: Hoàn thiện nội dung giới thiệu giá trị chính và chuẩn hóa kịch bản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01138"/>
            <a:ext cx="5547221" cy="666598"/>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Nhật ký hoạt động Thứ Hai (03/08) &amp; Thứ Ba (04/08)</a:t>
            </a:r>
          </a:p>
        </p:txBody>
      </p:sp>
      <p:sp>
        <p:nvSpPr>
          <p:cNvPr id="4" name="TextBox 3"/>
          <p:cNvSpPr txBox="1"/>
          <p:nvPr/>
        </p:nvSpPr>
        <p:spPr>
          <a:xfrm>
            <a:off x="338320" y="343564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6541" y="3448589"/>
            <a:ext cx="226321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Hai (03/08):</a:t>
            </a:r>
          </a:p>
        </p:txBody>
      </p:sp>
      <p:sp>
        <p:nvSpPr>
          <p:cNvPr id="6" name="TextBox 5"/>
          <p:cNvSpPr txBox="1"/>
          <p:nvPr/>
        </p:nvSpPr>
        <p:spPr>
          <a:xfrm>
            <a:off x="2829126" y="3435642"/>
            <a:ext cx="3291929"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phạm vi PoC và quy trình</a:t>
            </a:r>
          </a:p>
        </p:txBody>
      </p:sp>
      <p:sp>
        <p:nvSpPr>
          <p:cNvPr id="7" name="TextBox 6"/>
          <p:cNvSpPr txBox="1"/>
          <p:nvPr/>
        </p:nvSpPr>
        <p:spPr>
          <a:xfrm>
            <a:off x="666581" y="4151617"/>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827054" y="4151617"/>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Rà soát phạm vi PoC, người dùng và quy trình nghiệp vụ.</a:t>
            </a:r>
          </a:p>
        </p:txBody>
      </p:sp>
      <p:sp>
        <p:nvSpPr>
          <p:cNvPr id="9" name="TextBox 8"/>
          <p:cNvSpPr txBox="1"/>
          <p:nvPr/>
        </p:nvSpPr>
        <p:spPr>
          <a:xfrm>
            <a:off x="666581" y="4844732"/>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0" name="TextBox 9"/>
          <p:cNvSpPr txBox="1"/>
          <p:nvPr/>
        </p:nvSpPr>
        <p:spPr>
          <a:xfrm>
            <a:off x="827054" y="4844732"/>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Xác định luồng kiểm thử</a:t>
            </a:r>
            <a:r>
              <a:rPr sz="1800" b="0" i="0">
                <a:solidFill>
                  <a:srgbClr val="333333"/>
                </a:solidFill>
                <a:latin typeface="Arial"/>
              </a:rPr>
              <a:t> xuyên suốt hệ thống.</a:t>
            </a:r>
          </a:p>
        </p:txBody>
      </p:sp>
      <p:sp>
        <p:nvSpPr>
          <p:cNvPr id="11" name="TextBox 10"/>
          <p:cNvSpPr txBox="1"/>
          <p:nvPr/>
        </p:nvSpPr>
        <p:spPr>
          <a:xfrm>
            <a:off x="666581" y="5550795"/>
            <a:ext cx="206040"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2" name="TextBox 11"/>
          <p:cNvSpPr txBox="1"/>
          <p:nvPr/>
        </p:nvSpPr>
        <p:spPr>
          <a:xfrm>
            <a:off x="827054" y="5550795"/>
            <a:ext cx="5333257"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a:t>
            </a:r>
          </a:p>
        </p:txBody>
      </p:sp>
      <p:sp>
        <p:nvSpPr>
          <p:cNvPr id="13" name="TextBox 12"/>
          <p:cNvSpPr txBox="1"/>
          <p:nvPr/>
        </p:nvSpPr>
        <p:spPr>
          <a:xfrm>
            <a:off x="338320" y="5907265"/>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598450" y="5920213"/>
            <a:ext cx="2163912"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Ba (04/08):</a:t>
            </a:r>
          </a:p>
        </p:txBody>
      </p:sp>
      <p:sp>
        <p:nvSpPr>
          <p:cNvPr id="15" name="TextBox 14"/>
          <p:cNvSpPr txBox="1"/>
          <p:nvPr/>
        </p:nvSpPr>
        <p:spPr>
          <a:xfrm>
            <a:off x="2731730" y="5907265"/>
            <a:ext cx="3391234"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phân quyền và quản lý nhiệm vụ</a:t>
            </a:r>
          </a:p>
        </p:txBody>
      </p:sp>
      <p:sp>
        <p:nvSpPr>
          <p:cNvPr id="16" name="TextBox 15"/>
          <p:cNvSpPr txBox="1"/>
          <p:nvPr/>
        </p:nvSpPr>
        <p:spPr>
          <a:xfrm>
            <a:off x="666581" y="6623240"/>
            <a:ext cx="206040" cy="234760"/>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827054" y="6623240"/>
            <a:ext cx="5333257" cy="234760"/>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Kiểm thử phân quyền, đăng nhập và quản lý theo vai trò.</a:t>
            </a:r>
          </a:p>
        </p:txBody>
      </p:sp>
      <p:sp>
        <p:nvSpPr>
          <p:cNvPr id="18" name="TextBox 17"/>
          <p:cNvSpPr txBox="1"/>
          <p:nvPr/>
        </p:nvSpPr>
        <p:spPr>
          <a:xfrm>
            <a:off x="666581" y="7316355"/>
            <a:ext cx="206040" cy="-45835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9" name="TextBox 18"/>
          <p:cNvSpPr txBox="1"/>
          <p:nvPr/>
        </p:nvSpPr>
        <p:spPr>
          <a:xfrm>
            <a:off x="827054" y="7316355"/>
            <a:ext cx="5333257" cy="-45835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Ghi nhận các tình huống</a:t>
            </a:r>
            <a:r>
              <a:rPr sz="1800" b="0" i="0">
                <a:solidFill>
                  <a:srgbClr val="333333"/>
                </a:solidFill>
                <a:latin typeface="Arial"/>
              </a:rPr>
              <a:t> tránh thao tác vượt quyền.</a:t>
            </a:r>
          </a:p>
        </p:txBody>
      </p:sp>
      <p:sp>
        <p:nvSpPr>
          <p:cNvPr id="20" name="TextBox 19"/>
          <p:cNvSpPr txBox="1"/>
          <p:nvPr/>
        </p:nvSpPr>
        <p:spPr>
          <a:xfrm>
            <a:off x="666581" y="8022418"/>
            <a:ext cx="206040" cy="-1164418"/>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827054" y="8022418"/>
            <a:ext cx="5333257" cy="-1164418"/>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 CLO4</a:t>
            </a:r>
          </a:p>
        </p:txBody>
      </p:sp>
      <p:pic>
        <p:nvPicPr>
          <p:cNvPr id="22" name="Picture 21" descr="tmp8zruq1se.jpg"/>
          <p:cNvPicPr>
            <a:picLocks noChangeAspect="1"/>
          </p:cNvPicPr>
          <p:nvPr/>
        </p:nvPicPr>
        <p:blipFill>
          <a:blip r:embed="rId2"/>
          <a:srcRect t="300" b="300"/>
          <a:stretch>
            <a:fillRect/>
          </a:stretch>
        </p:blipFill>
        <p:spPr>
          <a:xfrm>
            <a:off x="6438739" y="243840"/>
            <a:ext cx="5448164" cy="3124200"/>
          </a:xfrm>
          <a:prstGeom prst="rect">
            <a:avLst/>
          </a:prstGeom>
        </p:spPr>
      </p:pic>
      <p:pic>
        <p:nvPicPr>
          <p:cNvPr id="23" name="Picture 22" descr="tmp4c3ov1s4.png"/>
          <p:cNvPicPr>
            <a:picLocks noChangeAspect="1"/>
          </p:cNvPicPr>
          <p:nvPr/>
        </p:nvPicPr>
        <p:blipFill>
          <a:blip r:embed="rId3"/>
          <a:srcRect l="2880" r="2880"/>
          <a:stretch>
            <a:fillRect/>
          </a:stretch>
        </p:blipFill>
        <p:spPr>
          <a:xfrm>
            <a:off x="6438739" y="3611880"/>
            <a:ext cx="5448164" cy="3124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13025"/>
            <a:ext cx="5547221" cy="345643"/>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Thứ Tư (05/08) &amp; Thứ Năm (06/08)</a:t>
            </a:r>
          </a:p>
        </p:txBody>
      </p:sp>
      <p:sp>
        <p:nvSpPr>
          <p:cNvPr id="4" name="TextBox 3"/>
          <p:cNvSpPr txBox="1"/>
          <p:nvPr/>
        </p:nvSpPr>
        <p:spPr>
          <a:xfrm>
            <a:off x="338320" y="313846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8646" y="3151409"/>
            <a:ext cx="215375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Tư (05/08):</a:t>
            </a:r>
          </a:p>
        </p:txBody>
      </p:sp>
      <p:sp>
        <p:nvSpPr>
          <p:cNvPr id="6" name="TextBox 5"/>
          <p:cNvSpPr txBox="1"/>
          <p:nvPr/>
        </p:nvSpPr>
        <p:spPr>
          <a:xfrm>
            <a:off x="2721772" y="3138462"/>
            <a:ext cx="3401388"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AI phân tích</a:t>
            </a:r>
          </a:p>
        </p:txBody>
      </p:sp>
      <p:sp>
        <p:nvSpPr>
          <p:cNvPr id="7" name="TextBox 6"/>
          <p:cNvSpPr txBox="1"/>
          <p:nvPr/>
        </p:nvSpPr>
        <p:spPr>
          <a:xfrm>
            <a:off x="338320" y="3841489"/>
            <a:ext cx="237738" cy="1065239"/>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612066" y="3867385"/>
            <a:ext cx="145589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9" name="TextBox 8"/>
          <p:cNvSpPr txBox="1"/>
          <p:nvPr/>
        </p:nvSpPr>
        <p:spPr>
          <a:xfrm>
            <a:off x="2037332" y="3841489"/>
            <a:ext cx="4099248" cy="1065239"/>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chức năng AI phân tích mức độ phù hợp của tài liệu.</a:t>
            </a:r>
          </a:p>
        </p:txBody>
      </p:sp>
      <p:sp>
        <p:nvSpPr>
          <p:cNvPr id="10" name="TextBox 9"/>
          <p:cNvSpPr txBox="1"/>
          <p:nvPr/>
        </p:nvSpPr>
        <p:spPr>
          <a:xfrm>
            <a:off x="338320" y="4868214"/>
            <a:ext cx="237738" cy="141483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1" name="TextBox 10"/>
          <p:cNvSpPr txBox="1"/>
          <p:nvPr/>
        </p:nvSpPr>
        <p:spPr>
          <a:xfrm>
            <a:off x="592271" y="4907057"/>
            <a:ext cx="2485229"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12" name="TextBox 11"/>
          <p:cNvSpPr txBox="1"/>
          <p:nvPr/>
        </p:nvSpPr>
        <p:spPr>
          <a:xfrm>
            <a:off x="3046869" y="4868214"/>
            <a:ext cx="3069916" cy="141483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Xác định AI đóng vai trò hỗ trợ</a:t>
            </a:r>
            <a:r>
              <a:rPr sz="1800" b="0" i="0">
                <a:solidFill>
                  <a:srgbClr val="333333"/>
                </a:solidFill>
                <a:latin typeface="Arial"/>
              </a:rPr>
              <a:t> thẩm định, không thay thế quyết định của người phụ trách.</a:t>
            </a:r>
          </a:p>
        </p:txBody>
      </p:sp>
      <p:sp>
        <p:nvSpPr>
          <p:cNvPr id="13" name="TextBox 12"/>
          <p:cNvSpPr txBox="1"/>
          <p:nvPr/>
        </p:nvSpPr>
        <p:spPr>
          <a:xfrm>
            <a:off x="338320" y="6270428"/>
            <a:ext cx="237738"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626415" y="6270428"/>
            <a:ext cx="70974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15" name="TextBox 14"/>
          <p:cNvSpPr txBox="1"/>
          <p:nvPr/>
        </p:nvSpPr>
        <p:spPr>
          <a:xfrm>
            <a:off x="1305531" y="6270428"/>
            <a:ext cx="4845399"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CLO4</a:t>
            </a:r>
          </a:p>
        </p:txBody>
      </p:sp>
      <p:sp>
        <p:nvSpPr>
          <p:cNvPr id="16" name="TextBox 15"/>
          <p:cNvSpPr txBox="1"/>
          <p:nvPr/>
        </p:nvSpPr>
        <p:spPr>
          <a:xfrm>
            <a:off x="338320" y="6662705"/>
            <a:ext cx="237738" cy="19529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338320" y="7042035"/>
            <a:ext cx="237738" cy="-18403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8" name="TextBox 17"/>
          <p:cNvSpPr txBox="1"/>
          <p:nvPr/>
        </p:nvSpPr>
        <p:spPr>
          <a:xfrm>
            <a:off x="593343" y="7054983"/>
            <a:ext cx="2429510" cy="-19698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Năm (06/08):</a:t>
            </a:r>
          </a:p>
        </p:txBody>
      </p:sp>
      <p:sp>
        <p:nvSpPr>
          <p:cNvPr id="19" name="TextBox 18"/>
          <p:cNvSpPr txBox="1"/>
          <p:nvPr/>
        </p:nvSpPr>
        <p:spPr>
          <a:xfrm>
            <a:off x="2992221" y="7042035"/>
            <a:ext cx="3125636" cy="-18403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và tính minh bạch</a:t>
            </a:r>
          </a:p>
        </p:txBody>
      </p:sp>
      <p:sp>
        <p:nvSpPr>
          <p:cNvPr id="20" name="TextBox 19"/>
          <p:cNvSpPr txBox="1"/>
          <p:nvPr/>
        </p:nvSpPr>
        <p:spPr>
          <a:xfrm>
            <a:off x="338320" y="7745062"/>
            <a:ext cx="237738" cy="-887062"/>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612066" y="7770958"/>
            <a:ext cx="1455898" cy="-912958"/>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22" name="TextBox 21"/>
          <p:cNvSpPr txBox="1"/>
          <p:nvPr/>
        </p:nvSpPr>
        <p:spPr>
          <a:xfrm>
            <a:off x="2037332" y="7745062"/>
            <a:ext cx="4099248" cy="-887062"/>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phần giải thích điểm và mối liên hệ giữa nhiệm vụ, minh chứng.</a:t>
            </a:r>
          </a:p>
        </p:txBody>
      </p:sp>
      <p:sp>
        <p:nvSpPr>
          <p:cNvPr id="23" name="TextBox 22"/>
          <p:cNvSpPr txBox="1"/>
          <p:nvPr/>
        </p:nvSpPr>
        <p:spPr>
          <a:xfrm>
            <a:off x="338320" y="8771787"/>
            <a:ext cx="237738" cy="-1913787"/>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4" name="TextBox 23"/>
          <p:cNvSpPr txBox="1"/>
          <p:nvPr/>
        </p:nvSpPr>
        <p:spPr>
          <a:xfrm>
            <a:off x="592271" y="8810631"/>
            <a:ext cx="2485229" cy="-195263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25" name="TextBox 24"/>
          <p:cNvSpPr txBox="1"/>
          <p:nvPr/>
        </p:nvSpPr>
        <p:spPr>
          <a:xfrm>
            <a:off x="3046869" y="8771787"/>
            <a:ext cx="3069916" cy="-1913787"/>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Làm rõ các yếu tố ảnh hưởng</a:t>
            </a:r>
            <a:r>
              <a:rPr sz="1800" b="0" i="0">
                <a:solidFill>
                  <a:srgbClr val="333333"/>
                </a:solidFill>
                <a:latin typeface="Arial"/>
              </a:rPr>
              <a:t> đến kết quả KPI và khả năng giải thích lý do cộng/trừ điểm.</a:t>
            </a:r>
          </a:p>
        </p:txBody>
      </p:sp>
      <p:sp>
        <p:nvSpPr>
          <p:cNvPr id="26" name="TextBox 25"/>
          <p:cNvSpPr txBox="1"/>
          <p:nvPr/>
        </p:nvSpPr>
        <p:spPr>
          <a:xfrm>
            <a:off x="338320" y="10174001"/>
            <a:ext cx="237738" cy="-3316001"/>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7" name="TextBox 26"/>
          <p:cNvSpPr txBox="1"/>
          <p:nvPr/>
        </p:nvSpPr>
        <p:spPr>
          <a:xfrm>
            <a:off x="626415" y="10174001"/>
            <a:ext cx="709747" cy="-331600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28" name="TextBox 27"/>
          <p:cNvSpPr txBox="1"/>
          <p:nvPr/>
        </p:nvSpPr>
        <p:spPr>
          <a:xfrm>
            <a:off x="1305531" y="10174001"/>
            <a:ext cx="4845399" cy="-3316001"/>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CLO5</a:t>
            </a:r>
          </a:p>
        </p:txBody>
      </p:sp>
      <p:pic>
        <p:nvPicPr>
          <p:cNvPr id="29" name="Picture 28" descr="tmp_hbzan4_.png"/>
          <p:cNvPicPr>
            <a:picLocks noChangeAspect="1"/>
          </p:cNvPicPr>
          <p:nvPr/>
        </p:nvPicPr>
        <p:blipFill>
          <a:blip r:embed="rId2"/>
          <a:srcRect l="3960" r="3960"/>
          <a:stretch>
            <a:fillRect/>
          </a:stretch>
        </p:blipFill>
        <p:spPr>
          <a:xfrm>
            <a:off x="6438739" y="243840"/>
            <a:ext cx="5448164" cy="3124200"/>
          </a:xfrm>
          <a:prstGeom prst="rect">
            <a:avLst/>
          </a:prstGeom>
        </p:spPr>
      </p:pic>
      <p:pic>
        <p:nvPicPr>
          <p:cNvPr id="30" name="Picture 29" descr="tmpe9577o2b.png"/>
          <p:cNvPicPr>
            <a:picLocks noChangeAspect="1"/>
          </p:cNvPicPr>
          <p:nvPr/>
        </p:nvPicPr>
        <p:blipFill>
          <a:blip r:embed="rId3"/>
          <a:srcRect l="954" r="954"/>
          <a:stretch>
            <a:fillRect/>
          </a:stretch>
        </p:blipFill>
        <p:spPr>
          <a:xfrm>
            <a:off x="6438739" y="3611880"/>
            <a:ext cx="5448164" cy="3124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3v8i4hn_.jpg"/>
          <p:cNvPicPr>
            <a:picLocks noChangeAspect="1"/>
          </p:cNvPicPr>
          <p:nvPr/>
        </p:nvPicPr>
        <p:blipFill>
          <a:blip r:embed="rId2"/>
          <a:srcRect l="184" r="184"/>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FFFFF">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1022" y="807720"/>
            <a:ext cx="10782030" cy="1798320"/>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1022" y="1051560"/>
            <a:ext cx="10782030" cy="1310640"/>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1022" y="2926080"/>
            <a:ext cx="10782030" cy="3799484"/>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1022" y="3169920"/>
            <a:ext cx="10782030" cy="3311804"/>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3348" y="1206063"/>
            <a:ext cx="9984998" cy="766176"/>
          </a:xfrm>
          <a:prstGeom prst="rect">
            <a:avLst/>
          </a:prstGeom>
          <a:noFill/>
        </p:spPr>
        <p:txBody>
          <a:bodyPr wrap="square" lIns="0" rIns="0" tIns="0" bIns="0" anchor="ctr">
            <a:noAutofit/>
          </a:bodyPr>
          <a:lstStyle/>
          <a:p>
            <a:pPr algn="ctr">
              <a:lnSpc>
                <a:spcPct val="95000"/>
              </a:lnSpc>
              <a:spcBef>
                <a:spcPts val="0"/>
              </a:spcBef>
              <a:spcAft>
                <a:spcPts val="0"/>
              </a:spcAft>
              <a:defRPr sz="5000" b="0" i="1">
                <a:solidFill>
                  <a:srgbClr val="007BFF"/>
                </a:solidFill>
                <a:latin typeface="Times New Roman"/>
              </a:defRPr>
            </a:pPr>
            <a:r>
              <a:t>3. Nhật ký công việc chi tiết</a:t>
            </a:r>
          </a:p>
        </p:txBody>
      </p:sp>
      <p:sp>
        <p:nvSpPr>
          <p:cNvPr id="9" name="TextBox 8"/>
          <p:cNvSpPr txBox="1"/>
          <p:nvPr/>
        </p:nvSpPr>
        <p:spPr>
          <a:xfrm>
            <a:off x="1133828" y="3313347"/>
            <a:ext cx="4437777" cy="2711159"/>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Thứ Sáu (07/08)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Hoàn thiện tài liệu và slide giới thiệu giải pháp AI KPI Copilot for Government.</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Chuẩn hóa nội dung</a:t>
            </a:r>
            <a:r>
              <a:rPr sz="1450" b="0" i="0">
                <a:solidFill>
                  <a:srgbClr val="333333"/>
                </a:solidFill>
                <a:latin typeface="Arial"/>
              </a:rPr>
              <a:t> theo bốn trụ cột: quản lý nhiệm vụ, AI phân tích minh chứng, đánh giá KPI minh bạch, dashboard và AI Assistant; bổ sung luồng báo cáo tự động.</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CLO3, CLO5</a:t>
            </a:r>
          </a:p>
        </p:txBody>
      </p:sp>
      <p:sp>
        <p:nvSpPr>
          <p:cNvPr id="10" name="TextBox 9"/>
          <p:cNvSpPr txBox="1"/>
          <p:nvPr/>
        </p:nvSpPr>
        <p:spPr>
          <a:xfrm>
            <a:off x="6620090" y="3300795"/>
            <a:ext cx="4437777" cy="3050054"/>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Cuối tuần (08/08 - 09/08)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Thử nghiệm kịch bản demo, tổng hợp phản hồi, cập nhật nội dung trình bày và danh mục minh chứng tuần.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Hoàn thiện kịch bản thuyết trình</a:t>
            </a:r>
            <a:r>
              <a:rPr sz="1450" b="0" i="0">
                <a:solidFill>
                  <a:srgbClr val="333333"/>
                </a:solidFill>
                <a:latin typeface="Arial"/>
              </a:rPr>
              <a:t> theo thứ tự vấn đề - giải pháp - quy trình - giá trị; ghi nhận lỗi/đề xuất và chuẩn bị tài liệu để báo cáo người hướng dẫn.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CLO2, CLO3, CLO5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g0v1994t.png"/>
          <p:cNvPicPr>
            <a:picLocks noChangeAspect="1"/>
          </p:cNvPicPr>
          <p:nvPr/>
        </p:nvPicPr>
        <p:blipFill>
          <a:blip r:embed="rId2"/>
          <a:srcRect l="7203" r="7203"/>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CLO1: Áp dụng kiến thức chuyên</a:t>
            </a:r>
          </a:p>
          <a:p>
            <a:pPr algn="l">
              <a:lnSpc>
                <a:spcPct val="98000"/>
              </a:lnSpc>
              <a:spcBef>
                <a:spcPts val="0"/>
              </a:spcBef>
              <a:spcAft>
                <a:spcPts val="0"/>
              </a:spcAft>
              <a:defRPr sz="2600" b="1" i="0">
                <a:solidFill>
                  <a:srgbClr val="007BFF"/>
                </a:solidFill>
                <a:latin typeface="Arial"/>
              </a:defRPr>
            </a:pPr>
            <a:r>
              <a:t>môn trong kiểm thử</a:t>
            </a:r>
          </a:p>
        </p:txBody>
      </p:sp>
      <p:sp>
        <p:nvSpPr>
          <p:cNvPr id="5" name="TextBox 4"/>
          <p:cNvSpPr txBox="1"/>
          <p:nvPr/>
        </p:nvSpPr>
        <p:spPr>
          <a:xfrm>
            <a:off x="5058029" y="3439430"/>
            <a:ext cx="6418927" cy="195271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Áp dụng kiến thức về phát triển web, dữ</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liệu và AI để kiểm thử các chức năng của hệ</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thống.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SO1</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ASIIN: Professional &amp; Methodological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Knowledge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Understanding</a:t>
            </a:r>
          </a:p>
        </p:txBody>
      </p:sp>
      <p:sp>
        <p:nvSpPr>
          <p:cNvPr id="6" name="TextBox 5"/>
          <p:cNvSpPr txBox="1"/>
          <p:nvPr/>
        </p:nvSpPr>
        <p:spPr>
          <a:xfrm>
            <a:off x="5058029" y="5501500"/>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CLO2: Phân tích nghiệp vụ và</a:t>
            </a:r>
          </a:p>
          <a:p>
            <a:pPr algn="l">
              <a:lnSpc>
                <a:spcPct val="98000"/>
              </a:lnSpc>
              <a:spcBef>
                <a:spcPts val="0"/>
              </a:spcBef>
              <a:spcAft>
                <a:spcPts val="0"/>
              </a:spcAft>
              <a:defRPr sz="2600" b="1" i="0">
                <a:solidFill>
                  <a:srgbClr val="007BFF"/>
                </a:solidFill>
                <a:latin typeface="Arial"/>
              </a:defRPr>
            </a:pPr>
            <a:r>
              <a:t>đánh giá hệ thống AI</a:t>
            </a:r>
          </a:p>
        </p:txBody>
      </p:sp>
      <p:sp>
        <p:nvSpPr>
          <p:cNvPr id="7" name="TextBox 6"/>
          <p:cNvSpPr txBox="1"/>
          <p:nvPr/>
        </p:nvSpPr>
        <p:spPr>
          <a:xfrm>
            <a:off x="5058029" y="6356330"/>
            <a:ext cx="6418927" cy="501670"/>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Phân tích luồng nghiệp vụ, đầu ra AI và các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yếu tố ảnh hưởng đến kết quả đánh giá KPI.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SO2</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Application &amp; Analysis 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sánh QAA: Problem-solving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pahfuxli.jpg"/>
          <p:cNvPicPr>
            <a:picLocks noChangeAspect="1"/>
          </p:cNvPicPr>
          <p:nvPr/>
        </p:nvPicPr>
        <p:blipFill>
          <a:blip r:embed="rId2"/>
          <a:srcRect t="1499" b="1499"/>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CLO3: Kỹ năng giao tiếp và phối</a:t>
            </a:r>
          </a:p>
          <a:p>
            <a:pPr algn="l">
              <a:lnSpc>
                <a:spcPct val="98000"/>
              </a:lnSpc>
              <a:spcBef>
                <a:spcPts val="0"/>
              </a:spcBef>
              <a:spcAft>
                <a:spcPts val="0"/>
              </a:spcAft>
              <a:defRPr sz="2600" b="1" i="0">
                <a:solidFill>
                  <a:srgbClr val="007BFF"/>
                </a:solidFill>
                <a:latin typeface="Arial"/>
              </a:defRPr>
            </a:pPr>
            <a:r>
              <a:t>hợp làm việc nhóm</a:t>
            </a:r>
          </a:p>
        </p:txBody>
      </p:sp>
      <p:sp>
        <p:nvSpPr>
          <p:cNvPr id="5" name="TextBox 4"/>
          <p:cNvSpPr txBox="1"/>
          <p:nvPr/>
        </p:nvSpPr>
        <p:spPr>
          <a:xfrm>
            <a:off x="5058029" y="3451281"/>
            <a:ext cx="6418927" cy="1632753"/>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Trao đổi phản hồi, phối hợp kiểm thử và</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trình bày giải pháp phù hợp với người nghe.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SO5</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Social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Teamwork</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Communication</a:t>
            </a:r>
          </a:p>
        </p:txBody>
      </p:sp>
      <p:sp>
        <p:nvSpPr>
          <p:cNvPr id="6" name="TextBox 5"/>
          <p:cNvSpPr txBox="1"/>
          <p:nvPr/>
        </p:nvSpPr>
        <p:spPr>
          <a:xfrm>
            <a:off x="5058029" y="5205234"/>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CLO4: Đạo đức nghề nghiệp và</a:t>
            </a:r>
          </a:p>
          <a:p>
            <a:pPr algn="l">
              <a:lnSpc>
                <a:spcPct val="98000"/>
              </a:lnSpc>
              <a:spcBef>
                <a:spcPts val="0"/>
              </a:spcBef>
              <a:spcAft>
                <a:spcPts val="0"/>
              </a:spcAft>
              <a:defRPr sz="2600" b="1" i="0">
                <a:solidFill>
                  <a:srgbClr val="007BFF"/>
                </a:solidFill>
                <a:latin typeface="Arial"/>
              </a:defRPr>
            </a:pPr>
            <a:r>
              <a:t>bảo mật thông tin</a:t>
            </a:r>
          </a:p>
        </p:txBody>
      </p:sp>
      <p:sp>
        <p:nvSpPr>
          <p:cNvPr id="7" name="TextBox 6"/>
          <p:cNvSpPr txBox="1"/>
          <p:nvPr/>
        </p:nvSpPr>
        <p:spPr>
          <a:xfrm>
            <a:off x="5058029" y="6060064"/>
            <a:ext cx="6418927" cy="797936"/>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Tôn trọng phân quyền, bảo mật dữ liệu</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minh chứng và duy trì vai trò quyết định cuối cùng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của con người.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SO4</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năng lực ASIIN: Ethical Responsibility</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đối sánh QAA: Professional Conduct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3sr9x8mw.png"/>
          <p:cNvPicPr>
            <a:picLocks noChangeAspect="1"/>
          </p:cNvPicPr>
          <p:nvPr/>
        </p:nvPicPr>
        <p:blipFill>
          <a:blip r:embed="rId2"/>
          <a:srcRect l="21545" r="21545"/>
          <a:stretch>
            <a:fillRect/>
          </a:stretch>
        </p:blipFill>
        <p:spPr>
          <a:xfrm>
            <a:off x="6553036" y="228600"/>
            <a:ext cx="5333867" cy="6248400"/>
          </a:xfrm>
          <a:prstGeom prst="rect">
            <a:avLst/>
          </a:prstGeom>
        </p:spPr>
      </p:pic>
      <p:sp>
        <p:nvSpPr>
          <p:cNvPr id="3" name="TextBox 2"/>
          <p:cNvSpPr txBox="1"/>
          <p:nvPr/>
        </p:nvSpPr>
        <p:spPr>
          <a:xfrm>
            <a:off x="809224" y="516953"/>
            <a:ext cx="5467975" cy="1678509"/>
          </a:xfrm>
          <a:prstGeom prst="rect">
            <a:avLst/>
          </a:prstGeom>
          <a:noFill/>
        </p:spPr>
        <p:txBody>
          <a:bodyPr wrap="square" lIns="0" rIns="0" tIns="0" bIns="0" anchor="t">
            <a:noAutofit/>
          </a:bodyPr>
          <a:lstStyle/>
          <a:p>
            <a:pPr algn="l">
              <a:lnSpc>
                <a:spcPct val="92000"/>
              </a:lnSpc>
              <a:spcBef>
                <a:spcPts val="0"/>
              </a:spcBef>
              <a:spcAft>
                <a:spcPts val="0"/>
              </a:spcAft>
              <a:defRPr sz="3600" b="1" i="0">
                <a:solidFill>
                  <a:srgbClr val="007BFF"/>
                </a:solidFill>
                <a:latin typeface="Arial"/>
              </a:defRPr>
            </a:pPr>
            <a:r>
              <a:t>4. NĂNG LỰC ĐẠT</a:t>
            </a:r>
          </a:p>
          <a:p>
            <a:pPr algn="l">
              <a:lnSpc>
                <a:spcPct val="92000"/>
              </a:lnSpc>
              <a:spcBef>
                <a:spcPts val="0"/>
              </a:spcBef>
              <a:spcAft>
                <a:spcPts val="0"/>
              </a:spcAft>
              <a:defRPr sz="3600" b="1" i="0">
                <a:solidFill>
                  <a:srgbClr val="007BFF"/>
                </a:solidFill>
                <a:latin typeface="Arial"/>
              </a:defRPr>
            </a:pPr>
            <a:r>
              <a:t>ĐƯỢC VÀ ĐỐI CHIẾU</a:t>
            </a:r>
          </a:p>
          <a:p>
            <a:pPr algn="l">
              <a:lnSpc>
                <a:spcPct val="92000"/>
              </a:lnSpc>
              <a:spcBef>
                <a:spcPts val="0"/>
              </a:spcBef>
              <a:spcAft>
                <a:spcPts val="0"/>
              </a:spcAft>
              <a:defRPr sz="3600" b="1" i="0">
                <a:solidFill>
                  <a:srgbClr val="007BFF"/>
                </a:solidFill>
                <a:latin typeface="Arial"/>
              </a:defRPr>
            </a:pPr>
            <a:r>
              <a:t>CHUẨN ĐẦU RA</a:t>
            </a:r>
          </a:p>
        </p:txBody>
      </p:sp>
      <p:sp>
        <p:nvSpPr>
          <p:cNvPr id="4" name="TextBox 3"/>
          <p:cNvSpPr txBox="1"/>
          <p:nvPr/>
        </p:nvSpPr>
        <p:spPr>
          <a:xfrm>
            <a:off x="809224" y="2215104"/>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4.5. </a:t>
            </a:r>
            <a:r>
              <a:rPr sz="1800" b="0" i="0">
                <a:solidFill>
                  <a:srgbClr val="007BFF"/>
                </a:solidFill>
                <a:latin typeface="Arial"/>
              </a:rPr>
              <a:t>CLO5: Năng lực tự học</a:t>
            </a:r>
            <a:r>
              <a:rPr sz="1800" b="0" i="0">
                <a:solidFill>
                  <a:srgbClr val="333333"/>
                </a:solidFill>
                <a:latin typeface="Arial"/>
              </a:rPr>
              <a:t> và phát triển</a:t>
            </a:r>
          </a:p>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chuyên môn</a:t>
            </a:r>
          </a:p>
        </p:txBody>
      </p:sp>
      <p:sp>
        <p:nvSpPr>
          <p:cNvPr id="5" name="TextBox 4"/>
          <p:cNvSpPr txBox="1"/>
          <p:nvPr/>
        </p:nvSpPr>
        <p:spPr>
          <a:xfrm>
            <a:off x="809224" y="2859963"/>
            <a:ext cx="5467975" cy="292907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Nội dung: Tự nghiên cứu, ghi chép kiểm thử</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và hoàn thiện tài liệu chuyên môn.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Phản biện: Đánh giá và tối ưu hóa các kết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quả do hệ thống AI đề xuất.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Đối chiếu chuẩn </a:t>
            </a:r>
            <a:r>
              <a:rPr sz="1800" b="0" i="0">
                <a:solidFill>
                  <a:srgbClr val="007BFF"/>
                </a:solidFill>
                <a:latin typeface="Arial"/>
              </a:rPr>
              <a:t>SO3</a:t>
            </a:r>
            <a:r>
              <a:rPr sz="1800" b="0" i="0">
                <a:solidFill>
                  <a:srgbClr val="333333"/>
                </a:solidFill>
                <a:latin typeface="Arial"/>
              </a:rPr>
              <a:t> và SO7.</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Personal &amp; Lifelong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Learning.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Employability &amp;</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Reflection.</a:t>
            </a:r>
          </a:p>
        </p:txBody>
      </p:sp>
      <p:sp>
        <p:nvSpPr>
          <p:cNvPr id="6" name="TextBox 5"/>
          <p:cNvSpPr txBox="1"/>
          <p:nvPr/>
        </p:nvSpPr>
        <p:spPr>
          <a:xfrm>
            <a:off x="809224" y="5762366"/>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t>Năng lực tự học là nền tảng quan trọng để</a:t>
            </a:r>
          </a:p>
          <a:p>
            <a:pPr algn="l">
              <a:lnSpc>
                <a:spcPct val="105000"/>
              </a:lnSpc>
              <a:spcBef>
                <a:spcPts val="0"/>
              </a:spcBef>
              <a:spcAft>
                <a:spcPts val="0"/>
              </a:spcAft>
              <a:defRPr sz="1800" b="0" i="0">
                <a:solidFill>
                  <a:srgbClr val="333333"/>
                </a:solidFill>
                <a:latin typeface="Arial"/>
              </a:defRPr>
            </a:pPr>
            <a:r>
              <a:t>thích nghi với sự thay đổi công nghệ.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8" y="0"/>
            <a:ext cx="0" cy="716280"/>
          </a:xfrm>
          <a:prstGeom prst="line">
            <a:avLst/>
          </a:prstGeom>
          <a:ln w="13970">
            <a:solidFill>
              <a:srgbClr val="007B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26" y="1237488"/>
            <a:ext cx="11094442" cy="534924"/>
          </a:xfrm>
          <a:prstGeom prst="rect">
            <a:avLst/>
          </a:prstGeom>
          <a:noFill/>
        </p:spPr>
        <p:txBody>
          <a:bodyPr wrap="square" lIns="0" rIns="0" tIns="0" bIns="0" anchor="ctr">
            <a:noAutofit/>
          </a:bodyPr>
          <a:lstStyle/>
          <a:p>
            <a:pPr algn="ctr">
              <a:lnSpc>
                <a:spcPct val="100000"/>
              </a:lnSpc>
              <a:spcBef>
                <a:spcPts val="0"/>
              </a:spcBef>
              <a:spcAft>
                <a:spcPts val="0"/>
              </a:spcAft>
              <a:defRPr sz="3300" b="1" i="0">
                <a:solidFill>
                  <a:srgbClr val="007BFF"/>
                </a:solidFill>
                <a:latin typeface="Arial"/>
              </a:defRPr>
            </a:pPr>
            <a:r>
              <a:t>5. KHÓ KHĂN, CÁCH KHẮC PHỤC VÀ BÀI HỌC</a:t>
            </a:r>
          </a:p>
        </p:txBody>
      </p:sp>
      <p:sp>
        <p:nvSpPr>
          <p:cNvPr id="5" name="Rectangle 4"/>
          <p:cNvSpPr/>
          <p:nvPr/>
        </p:nvSpPr>
        <p:spPr>
          <a:xfrm>
            <a:off x="198115"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115"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mpff5m2tis.png"/>
          <p:cNvPicPr>
            <a:picLocks noChangeAspect="1"/>
          </p:cNvPicPr>
          <p:nvPr/>
        </p:nvPicPr>
        <p:blipFill>
          <a:blip r:embed="rId2"/>
          <a:stretch>
            <a:fillRect/>
          </a:stretch>
        </p:blipFill>
        <p:spPr>
          <a:xfrm>
            <a:off x="1727157" y="2720340"/>
            <a:ext cx="426709" cy="426720"/>
          </a:xfrm>
          <a:prstGeom prst="rect">
            <a:avLst/>
          </a:prstGeom>
        </p:spPr>
      </p:pic>
      <p:sp>
        <p:nvSpPr>
          <p:cNvPr id="8" name="TextBox 7"/>
          <p:cNvSpPr txBox="1"/>
          <p:nvPr/>
        </p:nvSpPr>
        <p:spPr>
          <a:xfrm>
            <a:off x="405780"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ĐÁNH GIÁ ĐẦU RA AI</a:t>
            </a:r>
          </a:p>
        </p:txBody>
      </p:sp>
      <p:sp>
        <p:nvSpPr>
          <p:cNvPr id="9" name="TextBox 8"/>
          <p:cNvSpPr txBox="1"/>
          <p:nvPr/>
        </p:nvSpPr>
        <p:spPr>
          <a:xfrm>
            <a:off x="405780"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Kết quả phân tích thay đổi theo minh chứng. Cần kiểm tra nhiều trường hợp, so sánh giải thích với dữ liệu và không coi điểm AI là kết luận cuối cùng.</a:t>
            </a:r>
          </a:p>
        </p:txBody>
      </p:sp>
      <p:sp>
        <p:nvSpPr>
          <p:cNvPr id="10" name="Rectangle 9"/>
          <p:cNvSpPr/>
          <p:nvPr/>
        </p:nvSpPr>
        <p:spPr>
          <a:xfrm>
            <a:off x="4353451"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53451"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mpff5m2tis.png"/>
          <p:cNvPicPr>
            <a:picLocks noChangeAspect="1"/>
          </p:cNvPicPr>
          <p:nvPr/>
        </p:nvPicPr>
        <p:blipFill>
          <a:blip r:embed="rId2"/>
          <a:stretch>
            <a:fillRect/>
          </a:stretch>
        </p:blipFill>
        <p:spPr>
          <a:xfrm>
            <a:off x="5882493" y="2720340"/>
            <a:ext cx="426709" cy="426720"/>
          </a:xfrm>
          <a:prstGeom prst="rect">
            <a:avLst/>
          </a:prstGeom>
        </p:spPr>
      </p:pic>
      <p:sp>
        <p:nvSpPr>
          <p:cNvPr id="13" name="TextBox 12"/>
          <p:cNvSpPr txBox="1"/>
          <p:nvPr/>
        </p:nvSpPr>
        <p:spPr>
          <a:xfrm>
            <a:off x="4561116" y="3737671"/>
            <a:ext cx="3069462" cy="718444"/>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VỀ </a:t>
            </a:r>
            <a:r>
              <a:rPr sz="1800" b="1" i="0">
                <a:solidFill>
                  <a:srgbClr val="007BFF"/>
                </a:solidFill>
                <a:latin typeface="Arial"/>
              </a:rPr>
              <a:t>TÍNH NHẤT QUÁN NGHIỆP VỤ</a:t>
            </a:r>
          </a:p>
        </p:txBody>
      </p:sp>
      <p:sp>
        <p:nvSpPr>
          <p:cNvPr id="14" name="TextBox 13"/>
          <p:cNvSpPr txBox="1"/>
          <p:nvPr/>
        </p:nvSpPr>
        <p:spPr>
          <a:xfrm>
            <a:off x="4561116" y="4627230"/>
            <a:ext cx="3069462" cy="1656618"/>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Nhiều vai trò tham gia dễ gây sai lệch. Giải pháp: Xây dựng kịch bản kiểm thử theo từng vai trò và theo dõi dữ liệu qua từng bước.</a:t>
            </a:r>
          </a:p>
        </p:txBody>
      </p:sp>
      <p:sp>
        <p:nvSpPr>
          <p:cNvPr id="15" name="Rectangle 14"/>
          <p:cNvSpPr/>
          <p:nvPr/>
        </p:nvSpPr>
        <p:spPr>
          <a:xfrm>
            <a:off x="8508787"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8787"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mpff5m2tis.png"/>
          <p:cNvPicPr>
            <a:picLocks noChangeAspect="1"/>
          </p:cNvPicPr>
          <p:nvPr/>
        </p:nvPicPr>
        <p:blipFill>
          <a:blip r:embed="rId2"/>
          <a:stretch>
            <a:fillRect/>
          </a:stretch>
        </p:blipFill>
        <p:spPr>
          <a:xfrm>
            <a:off x="10037829" y="2720340"/>
            <a:ext cx="426709" cy="426720"/>
          </a:xfrm>
          <a:prstGeom prst="rect">
            <a:avLst/>
          </a:prstGeom>
        </p:spPr>
      </p:pic>
      <p:sp>
        <p:nvSpPr>
          <p:cNvPr id="18" name="TextBox 17"/>
          <p:cNvSpPr txBox="1"/>
          <p:nvPr/>
        </p:nvSpPr>
        <p:spPr>
          <a:xfrm>
            <a:off x="8716452"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TRÌNH BÀY SẢN PHẨM</a:t>
            </a:r>
          </a:p>
        </p:txBody>
      </p:sp>
      <p:sp>
        <p:nvSpPr>
          <p:cNvPr id="19" name="TextBox 18"/>
          <p:cNvSpPr txBox="1"/>
          <p:nvPr/>
        </p:nvSpPr>
        <p:spPr>
          <a:xfrm>
            <a:off x="8716452"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Hệ thống nhiều chức năng dễ gây dàn trải. Giải pháp: Gom nhóm thành bốn trụ cột và trình bày theo luồng nghiệp vụ xuyên suốt để dễ theo dõi.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a6s75qj0.png"/>
          <p:cNvPicPr>
            <a:picLocks noChangeAspect="1"/>
          </p:cNvPicPr>
          <p:nvPr/>
        </p:nvPicPr>
        <p:blipFill>
          <a:blip r:embed="rId2"/>
          <a:srcRect l="5364" r="5364"/>
          <a:stretch>
            <a:fillRect/>
          </a:stretch>
        </p:blipFill>
        <p:spPr>
          <a:xfrm>
            <a:off x="0" y="0"/>
            <a:ext cx="7696007" cy="6858000"/>
          </a:xfrm>
          <a:prstGeom prst="rect">
            <a:avLst/>
          </a:prstGeom>
        </p:spPr>
      </p:pic>
      <p:sp>
        <p:nvSpPr>
          <p:cNvPr id="3" name="Freeform 2"/>
          <p:cNvSpPr/>
          <p:nvPr/>
        </p:nvSpPr>
        <p:spPr>
          <a:xfrm>
            <a:off x="4648084" y="0"/>
            <a:ext cx="7543611" cy="6858000"/>
          </a:xfrm>
          <a:custGeom>
            <a:avLst/>
            <a:gdLst/>
            <a:ahLst/>
            <a:cxnLst/>
            <a:rect l="l" t="t" r="r" b="b"/>
            <a:pathLst>
              <a:path w="7543611" h="6858000">
                <a:moveTo>
                  <a:pt x="2705032" y="0"/>
                </a:moveTo>
                <a:lnTo>
                  <a:pt x="7543611" y="0"/>
                </a:lnTo>
                <a:lnTo>
                  <a:pt x="7543611"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313979" y="2362200"/>
            <a:ext cx="1313122" cy="2286000"/>
          </a:xfrm>
          <a:custGeom>
            <a:avLst/>
            <a:gdLst/>
            <a:ahLst/>
            <a:cxnLst/>
            <a:rect l="l" t="t" r="r" b="b"/>
            <a:pathLst>
              <a:path w="1313122" h="2286000">
                <a:moveTo>
                  <a:pt x="901652" y="0"/>
                </a:moveTo>
                <a:lnTo>
                  <a:pt x="1313122" y="0"/>
                </a:lnTo>
                <a:lnTo>
                  <a:pt x="411470" y="2286000"/>
                </a:lnTo>
                <a:lnTo>
                  <a:pt x="0" y="22860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86643" y="2012582"/>
            <a:ext cx="4200039" cy="1226540"/>
          </a:xfrm>
          <a:prstGeom prst="rect">
            <a:avLst/>
          </a:prstGeom>
          <a:noFill/>
        </p:spPr>
        <p:txBody>
          <a:bodyPr wrap="square" lIns="0" rIns="0" tIns="0" bIns="0" anchor="t">
            <a:noAutofit/>
          </a:bodyPr>
          <a:lstStyle/>
          <a:p>
            <a:pPr algn="l">
              <a:lnSpc>
                <a:spcPct val="98000"/>
              </a:lnSpc>
              <a:spcBef>
                <a:spcPts val="0"/>
              </a:spcBef>
              <a:spcAft>
                <a:spcPts val="0"/>
              </a:spcAft>
              <a:defRPr sz="3800" b="0" i="0">
                <a:solidFill>
                  <a:srgbClr val="007BFF"/>
                </a:solidFill>
                <a:latin typeface="Arial"/>
              </a:defRPr>
            </a:pPr>
            <a:r>
              <a:t>6. MINH CHỨNG KẾT QUẢ</a:t>
            </a:r>
          </a:p>
        </p:txBody>
      </p:sp>
      <p:sp>
        <p:nvSpPr>
          <p:cNvPr id="6" name="TextBox 5"/>
          <p:cNvSpPr txBox="1"/>
          <p:nvPr/>
        </p:nvSpPr>
        <p:spPr>
          <a:xfrm>
            <a:off x="7386643" y="3247705"/>
            <a:ext cx="4200039" cy="2245035"/>
          </a:xfrm>
          <a:prstGeom prst="rect">
            <a:avLst/>
          </a:prstGeom>
          <a:noFill/>
        </p:spPr>
        <p:txBody>
          <a:bodyPr wrap="square" lIns="0" rIns="0" tIns="0" bIns="0" anchor="t">
            <a:noAutofit/>
          </a:bodyPr>
          <a:lstStyle/>
          <a:p>
            <a:pPr algn="l">
              <a:lnSpc>
                <a:spcPct val="112000"/>
              </a:lnSpc>
              <a:spcBef>
                <a:spcPts val="0"/>
              </a:spcBef>
              <a:spcAft>
                <a:spcPts val="0"/>
              </a:spcAft>
              <a:defRPr sz="2400" b="0" i="0">
                <a:solidFill>
                  <a:srgbClr val="333333"/>
                </a:solidFill>
                <a:latin typeface="Arial"/>
              </a:defRPr>
            </a:pPr>
            <a:r>
              <a:t>Hình ảnh minh chứng cho tiến độ thực hiện dự án, bao gồm kết quả kiểm thử chức năng và giao diện hệ thống AI KPI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