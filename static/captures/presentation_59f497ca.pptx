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jpg"/><Relationship Id="rId11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frz31z8y.jpg"/>
          <p:cNvPicPr>
            <a:picLocks noChangeAspect="1"/>
          </p:cNvPicPr>
          <p:nvPr/>
        </p:nvPicPr>
        <p:blipFill>
          <a:blip r:embed="rId2"/>
          <a:srcRect t="10235" b="1023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nz2369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171487"/>
            <a:ext cx="8717062" cy="12196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3950" b="1" i="0">
                <a:solidFill>
                  <a:srgbClr val="0056B3"/>
                </a:solidFill>
                <a:latin typeface="Arial"/>
              </a:defRPr>
            </a:pPr>
            <a:r>
              <a:t>Tài liệu kiểm thử công thức LaTeX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518" y="3525164"/>
            <a:ext cx="9351030" cy="13331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33333"/>
                </a:solidFill>
                <a:latin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</a:rPr>
              <a:t>**Mục đích &amp; Quy ước:** </a:t>
            </a:r>
            <a:r>
              <a:rPr sz="1500" b="0" i="0">
                <a:solidFill>
                  <a:srgbClr val="0056B3"/>
                </a:solidFill>
                <a:latin typeface="Arial"/>
              </a:rPr>
              <a:t>kiểm tra luồng đọc nội dung Word</a:t>
            </a:r>
            <a:r>
              <a:rPr sz="1500" b="0" i="0">
                <a:solidFill>
                  <a:srgbClr val="333333"/>
                </a:solidFill>
                <a:latin typeface="Arial"/>
              </a:rPr>
              <a:t>, sinh XML và convert công thức LaTeX. Công thức được viết bằng LaTeX trong thẻ &lt;math-field&gt;.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333333"/>
                </a:solidFill>
                <a:latin typeface="Arial"/>
              </a:defRPr>
            </a:pPr>
            <a:r>
              <a:rPr sz="1500" b="0" i="0">
                <a:solidFill>
                  <a:srgbClr val="333333"/>
                </a:solidFill>
                <a:latin typeface="Arial"/>
              </a:rPr>
              <a:t>**Kỳ vọng hệ thống:** Nhận diện thẻ &lt;math-field&gt; trong XML, hiển thị đúng ở preview và render thành hình ảnh công thức khi xuất PowerPoint.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6" y="209596"/>
            <a:ext cx="5388729" cy="2159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0056B3"/>
                </a:solidFill>
                <a:latin typeface="Arial"/>
              </a:defRPr>
            </a:pPr>
            <a:r>
              <a:t>1.2. Danh sách các công thức kiểm thử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" y="2401138"/>
            <a:ext cx="5547221" cy="6665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33333"/>
                </a:solidFill>
                <a:latin typeface="Arial"/>
              </a:defRPr>
            </a:pPr>
            <a:r>
              <a:t>Các công thức toán học cơ bản được sử dụng để kiểm thử hệ thống.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0" y="3422694"/>
            <a:ext cx="237738" cy="10652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057" y="3448589"/>
            <a:ext cx="4632673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rPr sz="1800" b="1" i="0">
                <a:solidFill>
                  <a:srgbClr val="050505"/>
                </a:solidFill>
                <a:latin typeface="Arial"/>
              </a:rPr>
              <a:t>1. </a:t>
            </a:r>
            <a:r>
              <a:rPr sz="1800" b="1" i="0">
                <a:solidFill>
                  <a:srgbClr val="0056B3"/>
                </a:solidFill>
                <a:latin typeface="Arial"/>
              </a:rPr>
              <a:t>Công thức năng lượng Einstein</a:t>
            </a:r>
            <a:r>
              <a:rPr sz="1800" b="1" i="0">
                <a:solidFill>
                  <a:srgbClr val="050505"/>
                </a:solidFill>
                <a:latin typeface="Arial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6" name="Editable Equation"/>
              <p:cNvSpPr txBox="1"/>
              <p:nvPr/>
            </p:nvSpPr>
            <p:spPr>
              <a:xfrm>
                <a:off x="5048838" y="3462147"/>
                <a:ext cx="1008910" cy="98633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E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m</m:t>
                      </m:r>
                      <m:sSup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7" name="Picture 6" descr="tmpkynwqsbx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48838" y="3462147"/>
                <a:ext cx="1008910" cy="98633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/>
          <p:cNvSpPr txBox="1"/>
          <p:nvPr/>
        </p:nvSpPr>
        <p:spPr>
          <a:xfrm>
            <a:off x="338320" y="4449419"/>
            <a:ext cx="237738" cy="14148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188" y="4488262"/>
            <a:ext cx="3325856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rPr sz="1800" b="1" i="0">
                <a:solidFill>
                  <a:srgbClr val="050505"/>
                </a:solidFill>
                <a:latin typeface="Arial"/>
              </a:rPr>
              <a:t>1. </a:t>
            </a:r>
            <a:r>
              <a:rPr sz="1800" b="1" i="0">
                <a:solidFill>
                  <a:srgbClr val="0056B3"/>
                </a:solidFill>
                <a:latin typeface="Arial"/>
              </a:rPr>
              <a:t>Phương trình bậc hai</a:t>
            </a:r>
            <a:r>
              <a:rPr sz="1800" b="1" i="0">
                <a:solidFill>
                  <a:srgbClr val="050505"/>
                </a:solidFill>
                <a:latin typeface="Arial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0" name="Editable Equation"/>
              <p:cNvSpPr txBox="1"/>
              <p:nvPr/>
            </p:nvSpPr>
            <p:spPr>
              <a:xfrm>
                <a:off x="3792284" y="4501820"/>
                <a:ext cx="2265465" cy="1310030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x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f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-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b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±</m:t>
                          </m:r>
                          <m:rad>
                            <m:e>
                              <m:sSup>
                                <m:e>
                                  <m:r>
                                    <a:rPr sz="1800">
                                      <a:latin typeface="Cambria Math"/>
                                      <a:solidFill>
                                        <a:srgbClr val="050505"/>
                                      </a:solidFill>
                                    </a:rPr>
                                    <m:t>b</m:t>
                                  </m:r>
                                </m:e>
                                <m:sup>
                                  <m:r>
                                    <a:rPr sz="1800">
                                      <a:latin typeface="Cambria Math"/>
                                      <a:solidFill>
                                        <a:srgbClr val="050505"/>
                                      </a:solidFill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1800">
                                  <a:latin typeface="Cambria Math"/>
                                  <a:solidFill>
                                    <a:srgbClr val="050505"/>
                                  </a:solidFill>
                                </a:rPr>
                                <m:t>-</m:t>
                              </m:r>
                              <m:r>
                                <a:rPr sz="1800">
                                  <a:latin typeface="Cambria Math"/>
                                  <a:solidFill>
                                    <a:srgbClr val="050505"/>
                                  </a:solidFill>
                                </a:rPr>
                                <m:t>4</m:t>
                              </m:r>
                              <m:r>
                                <a:rPr sz="1800">
                                  <a:latin typeface="Cambria Math"/>
                                  <a:solidFill>
                                    <a:srgbClr val="050505"/>
                                  </a:solidFill>
                                </a:rPr>
                                <m:t>a</m:t>
                              </m:r>
                              <m:r>
                                <a:rPr sz="1800">
                                  <a:latin typeface="Cambria Math"/>
                                  <a:solidFill>
                                    <a:srgbClr val="050505"/>
                                  </a:solidFill>
                                </a:rPr>
                                <m:t>c</m:t>
                              </m:r>
                            </m:e>
                          </m:rad>
                        </m:e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a</m:t>
                          </m:r>
                        </m:e>
                      </m:f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11" name="Picture 10" descr="tmp3u479nij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2284" y="4501820"/>
                <a:ext cx="2265465" cy="131003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/>
          <p:cNvSpPr txBox="1"/>
          <p:nvPr/>
        </p:nvSpPr>
        <p:spPr>
          <a:xfrm>
            <a:off x="338320" y="5825737"/>
            <a:ext cx="237738" cy="10322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632" y="5851633"/>
            <a:ext cx="2938789" cy="3660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rPr sz="1800" b="1" i="0">
                <a:solidFill>
                  <a:srgbClr val="050505"/>
                </a:solidFill>
                <a:latin typeface="Arial"/>
              </a:rPr>
              <a:t>1. </a:t>
            </a:r>
            <a:r>
              <a:rPr sz="1800" b="1" i="0">
                <a:solidFill>
                  <a:srgbClr val="0056B3"/>
                </a:solidFill>
                <a:latin typeface="Arial"/>
              </a:rPr>
              <a:t>Định lý Pythagore</a:t>
            </a:r>
            <a:r>
              <a:rPr sz="1800" b="1" i="0">
                <a:solidFill>
                  <a:srgbClr val="050505"/>
                </a:solidFill>
                <a:latin typeface="Arial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4" name="Editable Equation"/>
              <p:cNvSpPr txBox="1"/>
              <p:nvPr/>
            </p:nvSpPr>
            <p:spPr>
              <a:xfrm>
                <a:off x="3420104" y="5865190"/>
                <a:ext cx="2637645" cy="98633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p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a</m:t>
                          </m:r>
                        </m:e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+</m:t>
                      </m:r>
                      <m:sSup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b</m:t>
                          </m:r>
                        </m:e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sSup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15" name="Picture 14" descr="tmp3zn0ug_0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0104" y="5865190"/>
                <a:ext cx="2637645" cy="986333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/>
          <p:cNvSpPr txBox="1"/>
          <p:nvPr/>
        </p:nvSpPr>
        <p:spPr>
          <a:xfrm>
            <a:off x="338320" y="6878358"/>
            <a:ext cx="237738" cy="-203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72" y="6891305"/>
            <a:ext cx="1834298" cy="-333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t>1. Tích phân: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8" name="Editable Equation"/>
              <p:cNvSpPr txBox="1"/>
              <p:nvPr/>
            </p:nvSpPr>
            <p:spPr>
              <a:xfrm>
                <a:off x="2358093" y="6904863"/>
                <a:ext cx="3699656" cy="662635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nary>
                        <m:naryPr>
                          <m:chr val="∫"/>
                        </m:naryPr>
                        <m:sub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0</m:t>
                          </m:r>
                        </m:sub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1</m:t>
                          </m:r>
                        </m:sup>
                        <m:e/>
                      </m:nary>
                      <m:sSup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x</m:t>
                          </m:r>
                        </m:e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</m:sup>
                      </m:sSup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d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x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f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3</m:t>
                          </m:r>
                        </m:e>
                      </m:f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19" name="Picture 18" descr="tmpm5t8mxb0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8093" y="6904863"/>
                <a:ext cx="3699656" cy="662635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/>
          <p:cNvSpPr txBox="1"/>
          <p:nvPr/>
        </p:nvSpPr>
        <p:spPr>
          <a:xfrm>
            <a:off x="338320" y="7581385"/>
            <a:ext cx="237738" cy="-7233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952" y="7607281"/>
            <a:ext cx="2142119" cy="-74928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t>1. Tổng dãy số: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2" name="Editable Equation"/>
              <p:cNvSpPr txBox="1"/>
              <p:nvPr/>
            </p:nvSpPr>
            <p:spPr>
              <a:xfrm>
                <a:off x="2654075" y="7620838"/>
                <a:ext cx="3403674" cy="98633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nary>
                        <m:naryPr>
                          <m:chr val="∑"/>
                        </m:naryPr>
                        <m:sub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i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=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n</m:t>
                          </m:r>
                        </m:sup>
                        <m:e/>
                      </m:nary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i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f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n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(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n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+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1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)</m:t>
                          </m:r>
                        </m:e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2</m:t>
                          </m:r>
                        </m:e>
                      </m:f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23" name="Picture 22" descr="tmpb24e8_um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54075" y="7620838"/>
                <a:ext cx="3403674" cy="986333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/>
          <p:cNvSpPr txBox="1"/>
          <p:nvPr/>
        </p:nvSpPr>
        <p:spPr>
          <a:xfrm>
            <a:off x="338320" y="8621058"/>
            <a:ext cx="237738" cy="-17630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768" y="8646953"/>
            <a:ext cx="1631725" cy="-178895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t>1. Giới hạn: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26" name="Editable Equation"/>
              <p:cNvSpPr txBox="1"/>
              <p:nvPr/>
            </p:nvSpPr>
            <p:spPr>
              <a:xfrm>
                <a:off x="2163312" y="8660511"/>
                <a:ext cx="3894437" cy="98633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lim</m:t>
                          </m:r>
                        </m:e>
                        <m:sub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x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→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0</m:t>
                          </m:r>
                        </m:sub>
                      </m:sSub>
                      <m:f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sin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x</m:t>
                          </m:r>
                        </m:e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x</m:t>
                          </m:r>
                        </m:e>
                      </m:f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1</m:t>
                      </m:r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27" name="Picture 26" descr="tmpju0x2iy9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3312" y="8660511"/>
                <a:ext cx="3894437" cy="986333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/>
          <p:cNvSpPr txBox="1"/>
          <p:nvPr/>
        </p:nvSpPr>
        <p:spPr>
          <a:xfrm>
            <a:off x="338320" y="9660730"/>
            <a:ext cx="237738" cy="-2802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973" y="9686626"/>
            <a:ext cx="1569071" cy="-28286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t>1. Ma trận: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0" name="Editable Equation"/>
              <p:cNvSpPr txBox="1"/>
              <p:nvPr/>
            </p:nvSpPr>
            <p:spPr>
              <a:xfrm>
                <a:off x="2103067" y="9700184"/>
                <a:ext cx="3954681" cy="98633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A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m>
                        <m:mr>
                          <m:e>
                            <m:r>
                              <a:rPr sz="1800">
                                <a:latin typeface="Cambria Math"/>
                                <a:solidFill>
                                  <a:srgbClr val="050505"/>
                                </a:solidFill>
                              </a:rPr>
                              <m:t>1</m:t>
                            </m:r>
                          </m:e>
                          <m:e>
                            <m:r>
                              <a:rPr sz="1800">
                                <a:latin typeface="Cambria Math"/>
                                <a:solidFill>
                                  <a:srgbClr val="050505"/>
                                </a:solidFill>
                              </a:rPr>
                              <m:t>2</m:t>
                            </m:r>
                          </m:e>
                        </m:mr>
                        <m:mr>
                          <m:e/>
                        </m:mr>
                        <m:mr>
                          <m:e>
                            <m:r>
                              <a:rPr sz="1800">
                                <a:latin typeface="Cambria Math"/>
                                <a:solidFill>
                                  <a:srgbClr val="050505"/>
                                </a:solidFill>
                              </a:rPr>
                              <m:t>3</m:t>
                            </m:r>
                          </m:e>
                          <m:e>
                            <m:r>
                              <a:rPr sz="1800">
                                <a:latin typeface="Cambria Math"/>
                                <a:solidFill>
                                  <a:srgbClr val="050505"/>
                                </a:solidFill>
                              </a:rPr>
                              <m:t>4</m:t>
                            </m:r>
                          </m:e>
                        </m:mr>
                      </m:m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31" name="Picture 30" descr="tmpnz1qs68p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3067" y="9700184"/>
                <a:ext cx="3954681" cy="986333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/>
          <p:cNvSpPr txBox="1"/>
          <p:nvPr/>
        </p:nvSpPr>
        <p:spPr>
          <a:xfrm>
            <a:off x="338320" y="10700403"/>
            <a:ext cx="237738" cy="-38424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043" y="10726299"/>
            <a:ext cx="3385415" cy="-3868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50505"/>
                </a:solidFill>
                <a:latin typeface="Arial"/>
              </a:defRPr>
            </a:pPr>
            <a:r>
              <a:t>1. Xác suất có điều kiện: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4" name="Editable Equation"/>
              <p:cNvSpPr txBox="1"/>
              <p:nvPr/>
            </p:nvSpPr>
            <p:spPr>
              <a:xfrm>
                <a:off x="3849552" y="10739857"/>
                <a:ext cx="2208197" cy="986333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18000"/>
                  </a:lnSpc>
                  <a:spcBef>
                    <a:spcPts val="0"/>
                  </a:spcBef>
                  <a:spcAft>
                    <a:spcPts val="0"/>
                  </a:spcAft>
                </a:pPr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P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(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A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|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B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)</m:t>
                      </m:r>
                      <m:r>
                        <a:rPr sz="1800">
                          <a:latin typeface="Cambria Math"/>
                          <a:solidFill>
                            <a:srgbClr val="050505"/>
                          </a:solidFill>
                        </a:rPr>
                        <m:t>=</m:t>
                      </m:r>
                      <m:f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P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(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A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∩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B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)</m:t>
                          </m:r>
                        </m:e>
                        <m:e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P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(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B</m:t>
                          </m:r>
                          <m:r>
                            <a:rPr sz="1800">
                              <a:latin typeface="Cambria Math"/>
                              <a:solidFill>
                                <a:srgbClr val="050505"/>
                              </a:solidFill>
                            </a:rPr>
                            <m:t>)</m:t>
                          </m:r>
                        </m:e>
                      </m:f>
                    </m:oMath>
                  </m:oMathPara>
                </a14:m>
                <a:br/>
                <a:r>
                  <a:rPr sz="1800" b="0" i="0">
                    <a:solidFill>
                      <a:srgbClr val="050505"/>
                    </a:solidFill>
                    <a:latin typeface="Arial"/>
                  </a:rPr>
                  <a:t>    </a:t>
                </a:r>
              </a:p>
            </p:txBody>
          </p:sp>
        </mc:Choice>
        <mc:Fallback>
          <p:pic>
            <p:nvPicPr>
              <p:cNvPr id="35" name="Picture 34" descr="tmpt37_odkl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49552" y="10739857"/>
                <a:ext cx="2208197" cy="986333"/>
              </a:xfrm>
              <a:prstGeom prst="rect">
                <a:avLst/>
              </a:prstGeom>
            </p:spPr>
          </p:pic>
        </mc:Fallback>
      </mc:AlternateContent>
      <p:pic>
        <p:nvPicPr>
          <p:cNvPr id="36" name="Picture 35" descr="tmps95mk84u.jpg"/>
          <p:cNvPicPr>
            <a:picLocks noChangeAspect="1"/>
          </p:cNvPicPr>
          <p:nvPr/>
        </p:nvPicPr>
        <p:blipFill>
          <a:blip r:embed="rId10"/>
          <a:srcRect t="6905" b="6905"/>
          <a:stretch>
            <a:fillRect/>
          </a:stretch>
        </p:blipFill>
        <p:spPr>
          <a:xfrm>
            <a:off x="6438739" y="243840"/>
            <a:ext cx="5448164" cy="3124200"/>
          </a:xfrm>
          <a:prstGeom prst="rect">
            <a:avLst/>
          </a:prstGeom>
        </p:spPr>
      </p:pic>
      <p:pic>
        <p:nvPicPr>
          <p:cNvPr id="37" name="Picture 36" descr="tmpz8k06057.png"/>
          <p:cNvPicPr>
            <a:picLocks noChangeAspect="1"/>
          </p:cNvPicPr>
          <p:nvPr/>
        </p:nvPicPr>
        <p:blipFill>
          <a:blip r:embed="rId11"/>
          <a:srcRect l="1462" r="1462"/>
          <a:stretch>
            <a:fillRect/>
          </a:stretch>
        </p:blipFill>
        <p:spPr>
          <a:xfrm>
            <a:off x="6438739" y="3611880"/>
            <a:ext cx="5448164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8mls95ii.jpg"/>
          <p:cNvPicPr>
            <a:picLocks noChangeAspect="1"/>
          </p:cNvPicPr>
          <p:nvPr/>
        </p:nvPicPr>
        <p:blipFill>
          <a:blip r:embed="rId2"/>
          <a:srcRect t="1746" b="1746"/>
          <a:stretch>
            <a:fillRect/>
          </a:stretch>
        </p:blipFill>
        <p:spPr>
          <a:xfrm>
            <a:off x="6553036" y="228600"/>
            <a:ext cx="5333867" cy="624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224" y="507699"/>
            <a:ext cx="5467975" cy="1928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0056B3"/>
                </a:solidFill>
                <a:latin typeface="Arial"/>
              </a:defRPr>
            </a:pPr>
            <a:r>
              <a:t>1.2. DANH SÁCH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0056B3"/>
                </a:solidFill>
                <a:latin typeface="Arial"/>
              </a:defRPr>
            </a:pPr>
            <a:r>
              <a:t>CÁC CÔNG THỨC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0056B3"/>
                </a:solidFill>
                <a:latin typeface="Arial"/>
              </a:defRPr>
            </a:pPr>
            <a:r>
              <a:t>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24" y="2434925"/>
            <a:ext cx="5467975" cy="982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Phần tiếp theo của tài liệu tập trung vào việc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kiểm thử các ký hiệu đặc biệt và khả năng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t>hiển thị ngôn ngữ bản địa trong LaTeX:</a:t>
            </a:r>
          </a:p>
        </p:txBody>
      </p:sp>
      <p:sp>
        <p:nvSpPr>
          <p:cNvPr id="5" name="Editable Equation"/>
          <p:cNvSpPr txBox="1"/>
          <p:nvPr/>
        </p:nvSpPr>
        <p:spPr>
          <a:xfrm>
            <a:off x="914377" y="3487826"/>
            <a:ext cx="5257668" cy="1823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50505"/>
                </a:solidFill>
                <a:latin typeface="Arial"/>
              </a:rPr>
              <a:t>• Ký hiệu Hy Lạp: </a:t>
            </a:r>
            <a:br/>
            <a:r>
              <a:rPr sz="1800" b="0" i="0">
                <a:solidFill>
                  <a:srgbClr val="050505"/>
                </a:solidFill>
                <a:latin typeface="Arial"/>
              </a:rPr>
              <a:t>      </a:t>
            </a:r>
            <a14:m xmlns:a14="http://schemas.microsoft.com/office/drawing/2010/main" xmlns:m="http://schemas.openxmlformats.org/officeDocument/2006/math">
              <m:oMath>
                <m:r>
                  <a:rPr sz="1800">
                    <a:latin typeface="Cambria Math"/>
                    <a:solidFill>
                      <a:srgbClr val="050505"/>
                    </a:solidFill>
                  </a:rPr>
                  <m:t>α</m:t>
                </m:r>
                <m:r>
                  <a:rPr sz="1800">
                    <a:latin typeface="Cambria Math"/>
                    <a:solidFill>
                      <a:srgbClr val="050505"/>
                    </a:solidFill>
                  </a:rPr>
                  <m:t>+</m:t>
                </m:r>
                <m:r>
                  <a:rPr sz="1800">
                    <a:latin typeface="Cambria Math"/>
                    <a:solidFill>
                      <a:srgbClr val="050505"/>
                    </a:solidFill>
                  </a:rPr>
                  <m:t>β</m:t>
                </m:r>
                <m:r>
                  <a:rPr sz="1800">
                    <a:latin typeface="Cambria Math"/>
                    <a:solidFill>
                      <a:srgbClr val="050505"/>
                    </a:solidFill>
                  </a:rPr>
                  <m:t>=</m:t>
                </m:r>
                <m:r>
                  <a:rPr sz="1800">
                    <a:latin typeface="Cambria Math"/>
                    <a:solidFill>
                      <a:srgbClr val="050505"/>
                    </a:solidFill>
                  </a:rPr>
                  <m:t>γ</m:t>
                </m:r>
              </m:oMath>
            </a14:m>
            <a:br/>
            <a:r>
              <a:rPr sz="1800" b="0" i="0">
                <a:solidFill>
                  <a:srgbClr val="050505"/>
                </a:solidFill>
                <a:latin typeface="Arial"/>
              </a:rPr>
              <a:t>• Công thức có nội dung tiếng Việt: Chi phí</a:t>
            </a:r>
            <a:br/>
            <a:r>
              <a:rPr sz="1800" b="0" i="0">
                <a:solidFill>
                  <a:srgbClr val="050505"/>
                </a:solidFill>
                <a:latin typeface="Arial"/>
              </a:rPr>
              <a:t>trung bình: </a:t>
            </a:r>
            <a:br/>
            <a:r>
              <a:rPr sz="1800" b="0" i="0">
                <a:solidFill>
                  <a:srgbClr val="050505"/>
                </a:solidFill>
                <a:latin typeface="Arial"/>
              </a:rPr>
              <a:t>      </a:t>
            </a:r>
            <a14:m xmlns:a14="http://schemas.microsoft.com/office/drawing/2010/main" xmlns:m="http://schemas.openxmlformats.org/officeDocument/2006/math">
              <m:oMath>
                <m:acc>
                  <m:accPr>
                    <m:chr val="¯"/>
                  </m:accPr>
                  <m:e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x</m:t>
                    </m:r>
                  </m:e>
                </m:acc>
                <m:r>
                  <a:rPr sz="1800">
                    <a:latin typeface="Cambria Math"/>
                    <a:solidFill>
                      <a:srgbClr val="050505"/>
                    </a:solidFill>
                  </a:rPr>
                  <m:t>=</m:t>
                </m:r>
                <m:f>
                  <m:e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1</m:t>
                    </m:r>
                  </m:e>
                  <m:e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n</m:t>
                    </m:r>
                  </m:e>
                </m:f>
                <m:nary>
                  <m:naryPr>
                    <m:chr val="∑"/>
                  </m:naryPr>
                  <m:sub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i</m:t>
                    </m:r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=</m:t>
                    </m:r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1</m:t>
                    </m:r>
                  </m:sub>
                  <m:sup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n</m:t>
                    </m:r>
                  </m:sup>
                  <m:e/>
                </m:nary>
                <m:sSub>
                  <m:e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x</m:t>
                    </m:r>
                  </m:e>
                  <m:sub>
                    <m:r>
                      <a:rPr sz="1800">
                        <a:latin typeface="Cambria Math"/>
                        <a:solidFill>
                          <a:srgbClr val="050505"/>
                        </a:solidFill>
                      </a:rPr>
                      <m:t>i</m:t>
                    </m:r>
                  </m:sub>
                </m:sSub>
              </m:oMath>
            </a14:m>
            <a:br/>
            <a:r>
              <a:rPr sz="1800" b="0" i="0">
                <a:solidFill>
                  <a:srgbClr val="050505"/>
                </a:solidFill>
                <a:latin typeface="Arial"/>
              </a:rPr>
              <a:t>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24" y="5381427"/>
            <a:ext cx="5467975" cy="9826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rPr sz="1800" b="0" i="0">
                <a:solidFill>
                  <a:srgbClr val="050505"/>
                </a:solidFill>
                <a:latin typeface="Arial"/>
              </a:rPr>
              <a:t>Hệ thống cần xử lý chính xác cả </a:t>
            </a:r>
            <a:r>
              <a:rPr sz="1800" b="0" i="0">
                <a:solidFill>
                  <a:srgbClr val="0056B3"/>
                </a:solidFill>
                <a:latin typeface="Arial"/>
              </a:rPr>
              <a:t>ký hiệu Hy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rPr sz="1800" b="0" i="0">
                <a:solidFill>
                  <a:srgbClr val="0056B3"/>
                </a:solidFill>
                <a:latin typeface="Arial"/>
              </a:rPr>
              <a:t>Lạp</a:t>
            </a:r>
            <a:r>
              <a:rPr sz="1800" b="0" i="0">
                <a:solidFill>
                  <a:srgbClr val="050505"/>
                </a:solidFill>
                <a:latin typeface="Arial"/>
              </a:rPr>
              <a:t> và các dấu tiếng Việt trong môi trường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50505"/>
                </a:solidFill>
                <a:latin typeface="Arial"/>
              </a:defRPr>
            </a:pPr>
            <a:r>
              <a:rPr sz="1800" b="0" i="0">
                <a:solidFill>
                  <a:srgbClr val="050505"/>
                </a:solidFill>
                <a:latin typeface="Arial"/>
              </a:rPr>
              <a:t>toán học.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