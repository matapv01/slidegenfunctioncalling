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4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25400">
            <a:solidFill>
              <a:srgbClr val="4A3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189" y="457200"/>
            <a:ext cx="11277318" cy="5943600"/>
          </a:xfrm>
          <a:prstGeom prst="rect">
            <a:avLst/>
          </a:prstGeom>
          <a:noFill/>
          <a:ln w="12700">
            <a:solidFill>
              <a:srgbClr val="4A3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66693" y="266700"/>
            <a:ext cx="228594" cy="228600"/>
          </a:xfrm>
          <a:prstGeom prst="rect">
            <a:avLst/>
          </a:prstGeom>
          <a:noFill/>
          <a:ln w="25400">
            <a:solidFill>
              <a:srgbClr val="4A3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96407" y="266700"/>
            <a:ext cx="228594" cy="228600"/>
          </a:xfrm>
          <a:prstGeom prst="rect">
            <a:avLst/>
          </a:prstGeom>
          <a:noFill/>
          <a:ln w="25400">
            <a:solidFill>
              <a:srgbClr val="4A3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693" y="6362700"/>
            <a:ext cx="228594" cy="228600"/>
          </a:xfrm>
          <a:prstGeom prst="rect">
            <a:avLst/>
          </a:prstGeom>
          <a:noFill/>
          <a:ln w="25400">
            <a:solidFill>
              <a:srgbClr val="4A3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96407" y="6362700"/>
            <a:ext cx="228594" cy="228600"/>
          </a:xfrm>
          <a:prstGeom prst="rect">
            <a:avLst/>
          </a:prstGeom>
          <a:noFill/>
          <a:ln w="25400">
            <a:solidFill>
              <a:srgbClr val="4A3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7924" y="914400"/>
            <a:ext cx="6095848" cy="762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100" b="0" i="0">
                <a:solidFill>
                  <a:srgbClr val="4A3F35"/>
                </a:solidFill>
                <a:latin typeface="Georgia"/>
              </a:defRPr>
            </a:pPr>
            <a:r>
              <a:t>Table of contents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4952" y="1905000"/>
            <a:ext cx="761981" cy="0"/>
          </a:xfrm>
          <a:prstGeom prst="line">
            <a:avLst/>
          </a:prstGeom>
          <a:ln w="25400">
            <a:solidFill>
              <a:srgbClr val="4A3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179" y="1981200"/>
            <a:ext cx="2895528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50" b="1" i="0">
                <a:solidFill>
                  <a:srgbClr val="4A3F35"/>
                </a:solidFill>
                <a:latin typeface="Georgia"/>
              </a:defRPr>
            </a:pPr>
            <a: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4952" y="2362200"/>
            <a:ext cx="761981" cy="0"/>
          </a:xfrm>
          <a:prstGeom prst="line">
            <a:avLst/>
          </a:prstGeom>
          <a:ln w="25400">
            <a:solidFill>
              <a:srgbClr val="4A3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179" y="2438400"/>
            <a:ext cx="2895528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4A3F35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79" y="3124200"/>
            <a:ext cx="2895528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3F35"/>
                </a:solidFill>
                <a:latin typeface="Georgia"/>
              </a:defRPr>
            </a:pPr>
            <a:r>
              <a:t>An overview of the presentation topic and objectives.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14857" y="1905000"/>
            <a:ext cx="761981" cy="0"/>
          </a:xfrm>
          <a:prstGeom prst="line">
            <a:avLst/>
          </a:prstGeom>
          <a:ln w="25400">
            <a:solidFill>
              <a:srgbClr val="4A3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48084" y="1981200"/>
            <a:ext cx="2895528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50" b="1" i="0">
                <a:solidFill>
                  <a:srgbClr val="4A3F35"/>
                </a:solidFill>
                <a:latin typeface="Georgia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4857" y="2362200"/>
            <a:ext cx="761981" cy="0"/>
          </a:xfrm>
          <a:prstGeom prst="line">
            <a:avLst/>
          </a:prstGeom>
          <a:ln w="25400">
            <a:solidFill>
              <a:srgbClr val="4A3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8084" y="2438400"/>
            <a:ext cx="2895528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4A3F35"/>
                </a:solidFill>
                <a:latin typeface="Georgia"/>
              </a:defRPr>
            </a:pPr>
            <a:r>
              <a:t>Reconstruction 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084" y="3124200"/>
            <a:ext cx="2895528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3F35"/>
                </a:solidFill>
                <a:latin typeface="Georgia"/>
              </a:defRPr>
            </a:pPr>
            <a:r>
              <a:t>Brief overview of the era.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24762" y="1905000"/>
            <a:ext cx="761981" cy="0"/>
          </a:xfrm>
          <a:prstGeom prst="line">
            <a:avLst/>
          </a:prstGeom>
          <a:ln w="25400">
            <a:solidFill>
              <a:srgbClr val="4A3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57988" y="1981200"/>
            <a:ext cx="2895528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50" b="1" i="0">
                <a:solidFill>
                  <a:srgbClr val="4A3F35"/>
                </a:solidFill>
                <a:latin typeface="Georgia"/>
              </a:defRPr>
            </a:pPr>
            <a:r>
              <a:t>03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4762" y="2362200"/>
            <a:ext cx="761981" cy="0"/>
          </a:xfrm>
          <a:prstGeom prst="line">
            <a:avLst/>
          </a:prstGeom>
          <a:ln w="25400">
            <a:solidFill>
              <a:srgbClr val="4A3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57988" y="2438400"/>
            <a:ext cx="2895528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4A3F35"/>
                </a:solidFill>
                <a:latin typeface="Georgia"/>
              </a:defRPr>
            </a:pPr>
            <a:r>
              <a:t>The Gilded 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7988" y="3124200"/>
            <a:ext cx="2895528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3F35"/>
                </a:solidFill>
                <a:latin typeface="Georgia"/>
              </a:defRPr>
            </a:pPr>
            <a:r>
              <a:t>Exploring economic growth and challenges.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04952" y="4343400"/>
            <a:ext cx="761981" cy="0"/>
          </a:xfrm>
          <a:prstGeom prst="line">
            <a:avLst/>
          </a:prstGeom>
          <a:ln w="25400">
            <a:solidFill>
              <a:srgbClr val="4A3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8179" y="4419600"/>
            <a:ext cx="2895528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50" b="1" i="0">
                <a:solidFill>
                  <a:srgbClr val="4A3F35"/>
                </a:solidFill>
                <a:latin typeface="Georgia"/>
              </a:defRPr>
            </a:pPr>
            <a:r>
              <a:t>04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904952" y="4800600"/>
            <a:ext cx="761981" cy="0"/>
          </a:xfrm>
          <a:prstGeom prst="line">
            <a:avLst/>
          </a:prstGeom>
          <a:ln w="25400">
            <a:solidFill>
              <a:srgbClr val="4A3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8179" y="4876800"/>
            <a:ext cx="2895528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4A3F35"/>
                </a:solidFill>
                <a:latin typeface="Georgia"/>
              </a:defRPr>
            </a:pPr>
            <a:r>
              <a:t>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79" y="5562600"/>
            <a:ext cx="2895528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3F35"/>
                </a:solidFill>
                <a:latin typeface="Georgia"/>
              </a:defRPr>
            </a:pPr>
            <a:r>
              <a:t>Comparing the two eras.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714857" y="4343400"/>
            <a:ext cx="761981" cy="0"/>
          </a:xfrm>
          <a:prstGeom prst="line">
            <a:avLst/>
          </a:prstGeom>
          <a:ln w="25400">
            <a:solidFill>
              <a:srgbClr val="4A3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48084" y="4419600"/>
            <a:ext cx="2895528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50" b="1" i="0">
                <a:solidFill>
                  <a:srgbClr val="4A3F35"/>
                </a:solidFill>
                <a:latin typeface="Georgia"/>
              </a:defRPr>
            </a:pPr>
            <a:r>
              <a:t>05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4857" y="4800600"/>
            <a:ext cx="761981" cy="0"/>
          </a:xfrm>
          <a:prstGeom prst="line">
            <a:avLst/>
          </a:prstGeom>
          <a:ln w="25400">
            <a:solidFill>
              <a:srgbClr val="4A3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648084" y="4876800"/>
            <a:ext cx="2895528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4A3F35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4" y="5562600"/>
            <a:ext cx="2895528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3F35"/>
                </a:solidFill>
                <a:latin typeface="Georgia"/>
              </a:defRPr>
            </a:pPr>
            <a:r>
              <a:t>Final thoughts.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524762" y="4343400"/>
            <a:ext cx="761981" cy="0"/>
          </a:xfrm>
          <a:prstGeom prst="line">
            <a:avLst/>
          </a:prstGeom>
          <a:ln w="25400">
            <a:solidFill>
              <a:srgbClr val="4A3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57988" y="4419600"/>
            <a:ext cx="2895528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50" b="1" i="0">
                <a:solidFill>
                  <a:srgbClr val="4A3F35"/>
                </a:solidFill>
                <a:latin typeface="Georgia"/>
              </a:defRPr>
            </a:pPr>
            <a:r>
              <a:t>06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524762" y="4800600"/>
            <a:ext cx="761981" cy="0"/>
          </a:xfrm>
          <a:prstGeom prst="line">
            <a:avLst/>
          </a:prstGeom>
          <a:ln w="25400">
            <a:solidFill>
              <a:srgbClr val="4A3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457988" y="4876800"/>
            <a:ext cx="2895528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4A3F35"/>
                </a:solidFill>
                <a:latin typeface="Georgia"/>
              </a:defRPr>
            </a:pPr>
            <a:r>
              <a:t>Activities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7988" y="5562600"/>
            <a:ext cx="2895528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3F35"/>
                </a:solidFill>
                <a:latin typeface="Georgia"/>
              </a:defRPr>
            </a:pPr>
            <a:r>
              <a:t>Interactive sessions.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