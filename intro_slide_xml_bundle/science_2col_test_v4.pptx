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reeform 1"/>
          <p:cNvSpPr/>
          <p:nvPr/>
        </p:nvSpPr>
        <p:spPr>
          <a:xfrm>
            <a:off x="0" y="0"/>
            <a:ext cx="12191695" cy="6858000"/>
          </a:xfrm>
          <a:custGeom>
            <a:avLst/>
            <a:gdLst/>
            <a:ahLst/>
            <a:cxnLst/>
            <a:rect l="l" t="t" r="r" b="b"/>
            <a:pathLst>
              <a:path w="12191695" h="6858000">
                <a:moveTo>
                  <a:pt x="0" y="0"/>
                </a:moveTo>
                <a:lnTo>
                  <a:pt x="12191695" y="0"/>
                </a:lnTo>
                <a:lnTo>
                  <a:pt x="12191695" y="6858000"/>
                </a:lnTo>
                <a:lnTo>
                  <a:pt x="0" y="6858000"/>
                </a:lnTo>
                <a:close/>
              </a:path>
            </a:pathLst>
          </a:custGeom>
          <a:solidFill>
            <a:srgbClr val="DCE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0"/>
            <a:ext cx="876278" cy="990600"/>
          </a:xfrm>
          <a:custGeom>
            <a:avLst/>
            <a:gdLst/>
            <a:ahLst/>
            <a:cxnLst/>
            <a:rect l="l" t="t" r="r" b="b"/>
            <a:pathLst>
              <a:path w="876278" h="990600">
                <a:moveTo>
                  <a:pt x="190495" y="990600"/>
                </a:moveTo>
                <a:lnTo>
                  <a:pt x="876278" y="647700"/>
                </a:lnTo>
                <a:lnTo>
                  <a:pt x="876278" y="0"/>
                </a:lnTo>
                <a:lnTo>
                  <a:pt x="0" y="0"/>
                </a:lnTo>
                <a:lnTo>
                  <a:pt x="0" y="895350"/>
                </a:lnTo>
                <a:close/>
              </a:path>
            </a:pathLst>
          </a:custGeom>
          <a:solidFill>
            <a:srgbClr val="4A7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1315417" y="0"/>
            <a:ext cx="876278" cy="914400"/>
          </a:xfrm>
          <a:custGeom>
            <a:avLst/>
            <a:gdLst/>
            <a:ahLst/>
            <a:cxnLst/>
            <a:rect l="l" t="t" r="r" b="b"/>
            <a:pathLst>
              <a:path w="876278" h="914400">
                <a:moveTo>
                  <a:pt x="0" y="571500"/>
                </a:moveTo>
                <a:lnTo>
                  <a:pt x="685783" y="914400"/>
                </a:lnTo>
                <a:lnTo>
                  <a:pt x="876278" y="819150"/>
                </a:lnTo>
                <a:lnTo>
                  <a:pt x="876278" y="0"/>
                </a:lnTo>
                <a:lnTo>
                  <a:pt x="0" y="0"/>
                </a:lnTo>
                <a:close/>
              </a:path>
            </a:pathLst>
          </a:custGeom>
          <a:solidFill>
            <a:srgbClr val="9EB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1048724" y="5448300"/>
            <a:ext cx="1142971" cy="1143000"/>
          </a:xfrm>
          <a:custGeom>
            <a:avLst/>
            <a:gdLst/>
            <a:ahLst/>
            <a:cxnLst/>
            <a:rect l="l" t="t" r="r" b="b"/>
            <a:pathLst>
              <a:path w="1142971" h="1143000">
                <a:moveTo>
                  <a:pt x="571485" y="0"/>
                </a:moveTo>
                <a:lnTo>
                  <a:pt x="0" y="285750"/>
                </a:lnTo>
                <a:lnTo>
                  <a:pt x="0" y="857250"/>
                </a:lnTo>
                <a:lnTo>
                  <a:pt x="571485" y="1143000"/>
                </a:lnTo>
                <a:lnTo>
                  <a:pt x="1142971" y="857250"/>
                </a:lnTo>
                <a:lnTo>
                  <a:pt x="1142971" y="285750"/>
                </a:lnTo>
                <a:close/>
              </a:path>
            </a:pathLst>
          </a:custGeom>
          <a:solidFill>
            <a:srgbClr val="A1C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1734506" y="6267450"/>
            <a:ext cx="457189" cy="590550"/>
          </a:xfrm>
          <a:custGeom>
            <a:avLst/>
            <a:gdLst/>
            <a:ahLst/>
            <a:cxnLst/>
            <a:rect l="l" t="t" r="r" b="b"/>
            <a:pathLst>
              <a:path w="457189" h="590550">
                <a:moveTo>
                  <a:pt x="0" y="228600"/>
                </a:moveTo>
                <a:lnTo>
                  <a:pt x="0" y="590550"/>
                </a:lnTo>
                <a:lnTo>
                  <a:pt x="457189" y="590550"/>
                </a:lnTo>
                <a:lnTo>
                  <a:pt x="457189" y="0"/>
                </a:lnTo>
                <a:close/>
              </a:path>
            </a:pathLst>
          </a:custGeom>
          <a:solidFill>
            <a:srgbClr val="C48E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1734506" y="4895850"/>
            <a:ext cx="457189" cy="1028700"/>
          </a:xfrm>
          <a:custGeom>
            <a:avLst/>
            <a:gdLst/>
            <a:ahLst/>
            <a:cxnLst/>
            <a:rect l="l" t="t" r="r" b="b"/>
            <a:pathLst>
              <a:path w="457189" h="1028700">
                <a:moveTo>
                  <a:pt x="0" y="228600"/>
                </a:moveTo>
                <a:lnTo>
                  <a:pt x="0" y="800100"/>
                </a:lnTo>
                <a:lnTo>
                  <a:pt x="457189" y="1028700"/>
                </a:lnTo>
                <a:lnTo>
                  <a:pt x="457189" y="0"/>
                </a:lnTo>
                <a:close/>
              </a:path>
            </a:pathLst>
          </a:custGeom>
          <a:solidFill>
            <a:srgbClr val="8881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0" y="5257800"/>
            <a:ext cx="609585" cy="1066800"/>
          </a:xfrm>
          <a:custGeom>
            <a:avLst/>
            <a:gdLst/>
            <a:ahLst/>
            <a:cxnLst/>
            <a:rect l="l" t="t" r="r" b="b"/>
            <a:pathLst>
              <a:path w="609585" h="1066800">
                <a:moveTo>
                  <a:pt x="76198" y="1066800"/>
                </a:moveTo>
                <a:lnTo>
                  <a:pt x="609585" y="800100"/>
                </a:lnTo>
                <a:lnTo>
                  <a:pt x="609585" y="266700"/>
                </a:lnTo>
                <a:lnTo>
                  <a:pt x="76198" y="0"/>
                </a:lnTo>
                <a:lnTo>
                  <a:pt x="0" y="38100"/>
                </a:lnTo>
                <a:lnTo>
                  <a:pt x="0" y="1028700"/>
                </a:lnTo>
                <a:close/>
              </a:path>
            </a:pathLst>
          </a:custGeom>
          <a:solidFill>
            <a:srgbClr val="C48E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0" y="6172200"/>
            <a:ext cx="609585" cy="685800"/>
          </a:xfrm>
          <a:custGeom>
            <a:avLst/>
            <a:gdLst/>
            <a:ahLst/>
            <a:cxnLst/>
            <a:rect l="l" t="t" r="r" b="b"/>
            <a:pathLst>
              <a:path w="609585" h="685800">
                <a:moveTo>
                  <a:pt x="609585" y="266700"/>
                </a:moveTo>
                <a:lnTo>
                  <a:pt x="76198" y="0"/>
                </a:lnTo>
                <a:lnTo>
                  <a:pt x="0" y="38100"/>
                </a:lnTo>
                <a:lnTo>
                  <a:pt x="0" y="685800"/>
                </a:lnTo>
                <a:lnTo>
                  <a:pt x="609585" y="685800"/>
                </a:lnTo>
                <a:close/>
              </a:path>
            </a:pathLst>
          </a:custGeom>
          <a:solidFill>
            <a:srgbClr val="A1C2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H="1">
            <a:off x="1066773" y="5715000"/>
            <a:ext cx="609585" cy="533400"/>
          </a:xfrm>
          <a:prstGeom prst="line">
            <a:avLst/>
          </a:prstGeom>
          <a:ln w="508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1219170" y="5334000"/>
            <a:ext cx="457188" cy="381000"/>
          </a:xfrm>
          <a:prstGeom prst="line">
            <a:avLst/>
          </a:prstGeom>
          <a:ln w="508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914377" y="5562600"/>
            <a:ext cx="152396" cy="685800"/>
          </a:xfrm>
          <a:prstGeom prst="line">
            <a:avLst/>
          </a:prstGeom>
          <a:ln w="508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6773" y="6248400"/>
            <a:ext cx="457189" cy="381000"/>
          </a:xfrm>
          <a:prstGeom prst="line">
            <a:avLst/>
          </a:prstGeom>
          <a:ln w="50800">
            <a:solidFill>
              <a:srgbClr val="FFFFF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333467" y="5372100"/>
            <a:ext cx="685783" cy="685800"/>
          </a:xfrm>
          <a:prstGeom prst="ellipse">
            <a:avLst/>
          </a:prstGeom>
          <a:solidFill>
            <a:srgbClr val="785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80" y="5981700"/>
            <a:ext cx="533387" cy="533400"/>
          </a:xfrm>
          <a:prstGeom prst="ellipse">
            <a:avLst/>
          </a:prstGeom>
          <a:solidFill>
            <a:srgbClr val="785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674" y="5143500"/>
            <a:ext cx="380990" cy="381000"/>
          </a:xfrm>
          <a:prstGeom prst="ellipse">
            <a:avLst/>
          </a:prstGeom>
          <a:solidFill>
            <a:srgbClr val="4A7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1981" y="5410200"/>
            <a:ext cx="304792" cy="304800"/>
          </a:xfrm>
          <a:prstGeom prst="ellipse">
            <a:avLst/>
          </a:prstGeom>
          <a:solidFill>
            <a:srgbClr val="4A7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33467" y="6438900"/>
            <a:ext cx="380990" cy="381000"/>
          </a:xfrm>
          <a:prstGeom prst="ellipse">
            <a:avLst/>
          </a:prstGeom>
          <a:solidFill>
            <a:srgbClr val="4A7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5943" y="762000"/>
            <a:ext cx="7619809" cy="762000"/>
          </a:xfrm>
          <a:prstGeom prst="rect">
            <a:avLst/>
          </a:prstGeom>
          <a:noFill/>
        </p:spPr>
        <p:txBody>
          <a:bodyPr wrap="none" lIns="0" rIns="0" tIns="0" bIns="0" anchor="ctr">
            <a:noAutofit/>
          </a:bodyPr>
          <a:lstStyle/>
          <a:p>
            <a:pPr algn="ctr">
              <a:lnSpc>
                <a:spcPct val="100000"/>
              </a:lnSpc>
              <a:spcBef>
                <a:spcPts val="0"/>
              </a:spcBef>
              <a:spcAft>
                <a:spcPts val="0"/>
              </a:spcAft>
              <a:defRPr sz="5100" b="1" i="0">
                <a:solidFill>
                  <a:srgbClr val="312C28"/>
                </a:solidFill>
                <a:latin typeface="Georgia"/>
              </a:defRPr>
            </a:pPr>
            <a:r>
              <a:t>From molecules to life</a:t>
            </a:r>
          </a:p>
        </p:txBody>
      </p:sp>
      <p:sp>
        <p:nvSpPr>
          <p:cNvPr id="20" name="TextBox 19"/>
          <p:cNvSpPr txBox="1"/>
          <p:nvPr/>
        </p:nvSpPr>
        <p:spPr>
          <a:xfrm>
            <a:off x="1523962" y="2133600"/>
            <a:ext cx="4190895" cy="381000"/>
          </a:xfrm>
          <a:prstGeom prst="rect">
            <a:avLst/>
          </a:prstGeom>
          <a:noFill/>
        </p:spPr>
        <p:txBody>
          <a:bodyPr wrap="none" lIns="0" rIns="0" tIns="0" bIns="0" anchor="b">
            <a:noAutofit/>
          </a:bodyPr>
          <a:lstStyle/>
          <a:p>
            <a:pPr algn="l">
              <a:lnSpc>
                <a:spcPct val="100000"/>
              </a:lnSpc>
              <a:spcBef>
                <a:spcPts val="0"/>
              </a:spcBef>
              <a:spcAft>
                <a:spcPts val="0"/>
              </a:spcAft>
              <a:defRPr sz="2450" b="1" i="0">
                <a:solidFill>
                  <a:srgbClr val="312C28"/>
                </a:solidFill>
                <a:latin typeface="Georgia"/>
              </a:defRPr>
            </a:pPr>
            <a:r>
              <a:t>Fact 1</a:t>
            </a:r>
          </a:p>
        </p:txBody>
      </p:sp>
      <p:sp>
        <p:nvSpPr>
          <p:cNvPr id="21" name="TextBox 20"/>
          <p:cNvSpPr txBox="1"/>
          <p:nvPr/>
        </p:nvSpPr>
        <p:spPr>
          <a:xfrm>
            <a:off x="1523962" y="2667000"/>
            <a:ext cx="4190895" cy="2286000"/>
          </a:xfrm>
          <a:prstGeom prst="rect">
            <a:avLst/>
          </a:prstGeom>
          <a:noFill/>
        </p:spPr>
        <p:txBody>
          <a:bodyPr wrap="square" lIns="0" rIns="0" tIns="0" bIns="0" anchor="t">
            <a:noAutofit/>
          </a:bodyPr>
          <a:lstStyle/>
          <a:p>
            <a:pPr algn="l">
              <a:lnSpc>
                <a:spcPct val="120000"/>
              </a:lnSpc>
              <a:spcBef>
                <a:spcPts val="0"/>
              </a:spcBef>
              <a:spcAft>
                <a:spcPts val="0"/>
              </a:spcAft>
              <a:defRPr sz="1600" b="0" i="0">
                <a:solidFill>
                  <a:srgbClr val="312C28"/>
                </a:solidFill>
                <a:latin typeface="Segoe UI"/>
              </a:defRPr>
            </a:pPr>
            <a:r>
              <a:t>Mercury is the closest planet to the Sun and the smallest one in the entire Solar System. Contrary to popular belief, this planet's name has nothing to do with the liquid metal. Mercury was, instead, named after the famous Roman messenger god Mercurius</a:t>
            </a:r>
          </a:p>
        </p:txBody>
      </p:sp>
      <p:sp>
        <p:nvSpPr>
          <p:cNvPr id="22" name="TextBox 21"/>
          <p:cNvSpPr txBox="1"/>
          <p:nvPr/>
        </p:nvSpPr>
        <p:spPr>
          <a:xfrm>
            <a:off x="6476838" y="2133600"/>
            <a:ext cx="4190895" cy="381000"/>
          </a:xfrm>
          <a:prstGeom prst="rect">
            <a:avLst/>
          </a:prstGeom>
          <a:noFill/>
        </p:spPr>
        <p:txBody>
          <a:bodyPr wrap="none" lIns="0" rIns="0" tIns="0" bIns="0" anchor="b">
            <a:noAutofit/>
          </a:bodyPr>
          <a:lstStyle/>
          <a:p>
            <a:pPr algn="l">
              <a:lnSpc>
                <a:spcPct val="100000"/>
              </a:lnSpc>
              <a:spcBef>
                <a:spcPts val="0"/>
              </a:spcBef>
              <a:spcAft>
                <a:spcPts val="0"/>
              </a:spcAft>
              <a:defRPr sz="2450" b="1" i="0">
                <a:solidFill>
                  <a:srgbClr val="312C28"/>
                </a:solidFill>
                <a:latin typeface="Georgia"/>
              </a:defRPr>
            </a:pPr>
            <a:r>
              <a:t>Fact 2</a:t>
            </a:r>
          </a:p>
        </p:txBody>
      </p:sp>
      <p:sp>
        <p:nvSpPr>
          <p:cNvPr id="23" name="TextBox 22"/>
          <p:cNvSpPr txBox="1"/>
          <p:nvPr/>
        </p:nvSpPr>
        <p:spPr>
          <a:xfrm>
            <a:off x="6476838" y="2667000"/>
            <a:ext cx="4190895" cy="2286000"/>
          </a:xfrm>
          <a:prstGeom prst="rect">
            <a:avLst/>
          </a:prstGeom>
          <a:noFill/>
        </p:spPr>
        <p:txBody>
          <a:bodyPr wrap="square" lIns="0" rIns="0" tIns="0" bIns="0" anchor="t">
            <a:noAutofit/>
          </a:bodyPr>
          <a:lstStyle/>
          <a:p>
            <a:pPr algn="l">
              <a:lnSpc>
                <a:spcPct val="120000"/>
              </a:lnSpc>
              <a:spcBef>
                <a:spcPts val="0"/>
              </a:spcBef>
              <a:spcAft>
                <a:spcPts val="0"/>
              </a:spcAft>
              <a:defRPr sz="1700" b="0" i="0">
                <a:solidFill>
                  <a:srgbClr val="312C28"/>
                </a:solidFill>
                <a:latin typeface="Segoe UI"/>
              </a:defRPr>
            </a:pPr>
            <a:r>
              <a:t>Mercury takes a little more than 58 days to complete its rotation, so try to imagine how long days must be there! Since the temperatures are so extreme, albeit not as extreme as on Venus, Mercury has been deemed to be non-habitable for humans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